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7a6076deb44c09" /><Relationship Type="http://schemas.openxmlformats.org/officeDocument/2006/relationships/extended-properties" Target="/docProps/app.xml" Id="R42ac84a612284f9d" /><Relationship Type="http://schemas.openxmlformats.org/officeDocument/2006/relationships/officeDocument" Target="/ppt/presentation.xml" Id="Redd949d2092549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039925b3cb4970"/>
  </p:sldMasterIdLst>
  <p:notesMasterIdLst>
    <p:notesMasterId xmlns:r="http://schemas.openxmlformats.org/officeDocument/2006/relationships" r:id="R557fae539e554b15"/>
  </p:notesMasterIdLst>
  <p:sldIdLst>
    <p:sldId xmlns:r="http://schemas.openxmlformats.org/officeDocument/2006/relationships" id="256" r:id="Rdfc9f50b00c348a9"/>
    <p:sldId xmlns:r="http://schemas.openxmlformats.org/officeDocument/2006/relationships" id="257" r:id="R96db5870792b4480"/>
    <p:sldId xmlns:r="http://schemas.openxmlformats.org/officeDocument/2006/relationships" id="258" r:id="R84239fcc54c24ebe"/>
    <p:sldId xmlns:r="http://schemas.openxmlformats.org/officeDocument/2006/relationships" id="259" r:id="R8ce6ecce39444614"/>
    <p:sldId xmlns:r="http://schemas.openxmlformats.org/officeDocument/2006/relationships" id="260" r:id="R28fc52f0dfdd4936"/>
    <p:sldId xmlns:r="http://schemas.openxmlformats.org/officeDocument/2006/relationships" id="261" r:id="Rf82769f797484d02"/>
    <p:sldId xmlns:r="http://schemas.openxmlformats.org/officeDocument/2006/relationships" id="262" r:id="Radae91d81a1843f2"/>
    <p:sldId xmlns:r="http://schemas.openxmlformats.org/officeDocument/2006/relationships" id="263" r:id="R27256378f4b349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039925b3cb4970" /><Relationship Type="http://schemas.openxmlformats.org/officeDocument/2006/relationships/theme" Target="/ppt/theme/theme1.xml" Id="R7ae75725b24f494e" /><Relationship Type="http://schemas.openxmlformats.org/officeDocument/2006/relationships/notesMaster" Target="/ppt/notesMasters/notesMaster1.xml" Id="R557fae539e554b15" /><Relationship Type="http://schemas.openxmlformats.org/officeDocument/2006/relationships/presProps" Target="/ppt/presProps.xml" Id="R04464ea5abd14bf5" /><Relationship Type="http://schemas.openxmlformats.org/officeDocument/2006/relationships/viewProps" Target="/ppt/viewProps.xml" Id="R3649f73d7e1c445e" /><Relationship Type="http://schemas.openxmlformats.org/officeDocument/2006/relationships/tableStyles" Target="/ppt/tableStyles.xml" Id="R095493eb52964dd6" /><Relationship Type="http://schemas.openxmlformats.org/officeDocument/2006/relationships/slide" Target="/ppt/slides/slide1.xml" Id="Rdfc9f50b00c348a9" /><Relationship Type="http://schemas.openxmlformats.org/officeDocument/2006/relationships/slide" Target="/ppt/slides/slide2.xml" Id="R96db5870792b4480" /><Relationship Type="http://schemas.openxmlformats.org/officeDocument/2006/relationships/slide" Target="/ppt/slides/slide3.xml" Id="R84239fcc54c24ebe" /><Relationship Type="http://schemas.openxmlformats.org/officeDocument/2006/relationships/slide" Target="/ppt/slides/slide4.xml" Id="R8ce6ecce39444614" /><Relationship Type="http://schemas.openxmlformats.org/officeDocument/2006/relationships/slide" Target="/ppt/slides/slide5.xml" Id="R28fc52f0dfdd4936" /><Relationship Type="http://schemas.openxmlformats.org/officeDocument/2006/relationships/slide" Target="/ppt/slides/slide6.xml" Id="Rf82769f797484d02" /><Relationship Type="http://schemas.openxmlformats.org/officeDocument/2006/relationships/slide" Target="/ppt/slides/slide7.xml" Id="Radae91d81a1843f2" /><Relationship Type="http://schemas.openxmlformats.org/officeDocument/2006/relationships/slide" Target="/ppt/slides/slide8.xml" Id="R27256378f4b349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2e5a022e99742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b158b3655f404e" /><Relationship Type="http://schemas.openxmlformats.org/officeDocument/2006/relationships/notesMaster" Target="/ppt/notesMasters/notesMaster1.xml" Id="R9d072114f8904e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4e001a24174d23" /><Relationship Type="http://schemas.openxmlformats.org/officeDocument/2006/relationships/notesMaster" Target="/ppt/notesMasters/notesMaster1.xml" Id="R5a4e5167131741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59f2e5134b4cff" /><Relationship Type="http://schemas.openxmlformats.org/officeDocument/2006/relationships/notesMaster" Target="/ppt/notesMasters/notesMaster1.xml" Id="R9b46b550874943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45bc54df2e41fb" /><Relationship Type="http://schemas.openxmlformats.org/officeDocument/2006/relationships/notesMaster" Target="/ppt/notesMasters/notesMaster1.xml" Id="Rbe9eca73a2144e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91adc490194497" /><Relationship Type="http://schemas.openxmlformats.org/officeDocument/2006/relationships/notesMaster" Target="/ppt/notesMasters/notesMaster1.xml" Id="Rf534b04e71cf49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234187dda940be" /><Relationship Type="http://schemas.openxmlformats.org/officeDocument/2006/relationships/notesMaster" Target="/ppt/notesMasters/notesMaster1.xml" Id="Rc7083bf940414a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a626e99f2e4b79" /><Relationship Type="http://schemas.openxmlformats.org/officeDocument/2006/relationships/notesMaster" Target="/ppt/notesMasters/notesMaster1.xml" Id="R852e78d9815448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1225e33b754dd1" /><Relationship Type="http://schemas.openxmlformats.org/officeDocument/2006/relationships/notesMaster" Target="/ppt/notesMasters/notesMaster1.xml" Id="R6643a826db234c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8febe5083e4a3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b14707b8de64206" /><Relationship Type="http://schemas.openxmlformats.org/officeDocument/2006/relationships/slideLayout" Target="/ppt/slideLayouts/slideLayout2.xml" Id="R1bf35f229ed84f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f35f229ed84f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3fe1a64059422d" /><Relationship Type="http://schemas.openxmlformats.org/officeDocument/2006/relationships/image" Target="/ppt/media/image.png" Id="R707aa8ae8cb143b6" /><Relationship Type="http://schemas.openxmlformats.org/officeDocument/2006/relationships/notesSlide" Target="/ppt/notesSlides/notesSlide1.xml" Id="R311fb7127a754d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e314aab06645cc" /><Relationship Type="http://schemas.openxmlformats.org/officeDocument/2006/relationships/notesSlide" Target="/ppt/notesSlides/notesSlide2.xml" Id="R3f742a94cc9540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da878abe1a4213" /><Relationship Type="http://schemas.openxmlformats.org/officeDocument/2006/relationships/notesSlide" Target="/ppt/notesSlides/notesSlide3.xml" Id="Ree8cdf459b9841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8e76c812a64fc2" /><Relationship Type="http://schemas.openxmlformats.org/officeDocument/2006/relationships/notesSlide" Target="/ppt/notesSlides/notesSlide4.xml" Id="Rcc1e2870e5f14e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3f9b185d2547aa" /><Relationship Type="http://schemas.openxmlformats.org/officeDocument/2006/relationships/notesSlide" Target="/ppt/notesSlides/notesSlide5.xml" Id="Rbd18db602c214a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82e6fac9884038" /><Relationship Type="http://schemas.openxmlformats.org/officeDocument/2006/relationships/notesSlide" Target="/ppt/notesSlides/notesSlide6.xml" Id="Re3d226c1e64c44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d6ace6bc244819" /><Relationship Type="http://schemas.openxmlformats.org/officeDocument/2006/relationships/notesSlide" Target="/ppt/notesSlides/notesSlide7.xml" Id="Ra12c85443f1148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f2d2044dc447c3" /><Relationship Type="http://schemas.openxmlformats.org/officeDocument/2006/relationships/notesSlide" Target="/ppt/notesSlides/notesSlide8.xml" Id="Re97989eebf1148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a8ae8cb143b6"/>
          <a:srcRect xmlns:a="http://schemas.openxmlformats.org/drawingml/2006/main" l="23814" t="0" r="238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26C4D-BAAA-44D7-AFA5-3183FAEB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0"/>
            <a:ext cx="838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7E160-2446-442A-9B1F-28F6827F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15936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B588F-6B04-488C-B9DE-B0EB03D3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HACKATHON PITCH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04184-5798-46CE-B538-BE72AB0A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049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4A1A5-4917-4247-A0B8-E4AD5B4D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A field guide to the long tail of paid API routes for agents.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4A07E-10A8-4489-BCA2-27F3082D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0400"/>
            <a:ext cx="476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If agents can buy one API call at a time, the hard problem becomes routing: what exists, what has signal, what should be probed, and what can be composed.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4C8126-DE17-40A3-8269-CA8F47B0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13,517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1E162B-0499-45DD-9CF8-333CFDE6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 rows in local corpus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3BE71-D979-4253-8FC3-263579DD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1,753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08DFF-A315-4BD9-BFDA-C62EEF35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providers mapped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6DB85-1E29-48F4-A062-EC4E1536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863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EDA54-3EA4-45F3-878E-F1A981F7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625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derived verdict states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930A8-10B9-48C5-B373-2CF1CB0A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068E9-E416-411A-B863-BCE15015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D89EFA-C50F-47B5-8251-543F2EE2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58773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0B87BA-A528-4C98-956C-D253A6EF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85E226-6EE8-4CD2-94D0-E9B84020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A route explosion turns API discovery into procurement.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77D2C-F81C-409E-B98F-6BEE8780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future is not a better directory. It is agents deciding which tiny paid capability deserves the next dollar.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44F322-4E01-4D62-A47B-6CD71DA4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B50AD-F034-444F-BF62-F19E7CF8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52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F9712-020F-4F69-AF17-45911142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FE434-AB8D-47B7-82C1-A60ACC13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28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A91E0-1B00-4A52-A93D-AA2A9072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7613F-9FB4-4ABF-B309-A7987F56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581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3F623-BE4F-48A4-989C-70FA8DA2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BC5449-C0D5-4671-9178-67319FE2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33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A35F1-D6ED-4807-A677-FD47C9E4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71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6F213-D8EB-49D7-9AF6-8F9B4F0E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09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403C63-189C-4EC7-ADF1-22B5D87A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24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C8622-18DD-4211-AFFF-A525E6AA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7B9F0B-E466-437A-9E6E-538652C9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00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235E05-82C8-4650-A837-BEBED14B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514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EA462-8AE2-461D-A2A4-99196C71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52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738044-6360-4752-8735-5E4FC7C1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590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C5579-3A3A-4625-9D13-6DE99665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6F7FF2-70E1-4E25-BFA9-59D23694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4FC91A-FE8A-4635-91C4-C99BE37F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05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6B48B0-0963-4A0A-8B51-83F8BA79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943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8F7024-C209-478F-B882-AA092A63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441E6B-46EE-4B2F-BD4B-13000848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895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09374B-4000-4B51-92BD-630F6237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33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1991E1-9A25-4FA9-BD06-E534A1A0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47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8A1916-C0F5-42CF-A26D-57457CAA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86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83954A-AE28-45C7-B3D0-3F0CA817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924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CD953C-C3FA-4E24-B18F-CE7C90B7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38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87CCBC-4383-48F0-B594-E86A9EE4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765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6462A7-A2F3-4949-8496-1E28F1DD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D5DB6C-E3A9-4E3B-AEE0-8EAC2796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527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5E4AF8-B6BB-412D-BDEF-5F45A603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542FB8-45BA-4B14-8230-773F2147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05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5215AA-3A39-433E-A0F5-A7237406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67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A90B09-4063-4CAD-9FB3-7C490E07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81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80EFEC-C0FE-4E2C-BEE7-6374A427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19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658E04-2C8C-450A-B59D-C1DB3491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575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6AA5A6-1720-478F-9CC4-69B0D8CB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E5481C-5730-4A1A-B04E-863F57A0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209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7AA6BF-23C0-4355-A7BF-682EBEEC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596EA9-6735-4096-B81C-634FCC63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162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850C8B-733F-4F24-B877-24FABC34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7CC566-607C-46B0-A25D-F51D5356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38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361BBC-7850-4218-B3C7-66D40D79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D51A589-992D-4F7A-AC0F-3CDB0D93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190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B6D2C6-1B5F-4DB7-80B8-45709E5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28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ED47F0-00F3-4D6A-B594-818CB0D2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267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AA5CAA6-E5A6-4EE3-827D-557FADC1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81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01DAE6-6B8B-4C16-B5B2-B6B5960A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19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1A8E3-D866-4FF8-83C7-CDFCD84C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8A28DE0-E4DA-4EA0-A40C-2CED59C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7F73305-C5C9-4855-95BE-01A7A749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33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FFC005-AFE1-416B-940F-56B36E38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571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A0DF304-3AC7-4189-995C-1D11FA72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86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26CB07A-D662-4E90-A578-C8C04AC2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24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128EBF-AA7A-4790-8A80-CDF0308C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62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243FEF-3EA0-4829-92FF-2861BE2C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00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7A21EED-F4EA-4ED3-AF6E-CD570B31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14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93574D-2045-44FC-B639-3E5B7512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52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809AE53-FB57-429B-BDBE-9E87BB22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C389874-88A9-4412-ACBC-2DC34D29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05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BF6C5A-50FE-42BD-AB0D-4ED55FC4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43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DEBBFCA-C3C3-4FF3-95E5-1B26BA0F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81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10388C-74C7-4F5B-BCE0-A532C8EF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B0B428-35B8-4241-8BB1-E9320ECD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33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4EE9C0C-6B03-436B-9303-1AF71E58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F78367-C5D5-406A-B560-B932F261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39E129-4A57-4C2E-A41A-D14187F0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CB149B-87FC-4F2A-ADFD-3E6F2FD8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86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DACEC01-671B-40B4-B3C0-0EE3D61F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24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1F9F9E0-A21A-4269-89D9-75AAEA9D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9730B60-EF8A-4720-AD0D-73807292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B3AA4F-1327-4E2D-A509-3804A084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15AA9A3-20A6-4AFB-95F3-7D34EE1C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829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56EEADC-B4E4-4BCA-8962-86DD9AC7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867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CFC89C8-FFBA-4019-933B-E18B43AD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05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4128F8-4454-4BCE-9E31-58D6293A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9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303B494-09D8-4A5D-926A-B43215E5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FD582D6-68C9-4D6C-8186-40151DFD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95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12AA338-EE1D-41D7-93EA-E604E00B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10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11683FB-EB05-4541-B338-B60FD1B1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848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77310E-46B4-4ABA-9E69-9ABFA7EC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55111F3-7A95-4866-BC6F-332F394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48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F8D18D9-B731-4A68-B67F-7D7D0BF1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62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D3C4328-12AE-423F-895A-07CAAA5E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1A3A927-D460-4267-AC24-1EB65414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576BD91-BC29-4CB7-A038-6BCFA8FB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152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E407A15-AD90-438B-B045-79A118F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91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F56E727-EE96-4140-AF8C-856D747A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229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9139EE-483E-4843-9148-C18E10F9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43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2A7EF5F-E0F8-4457-A452-1E39C279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863FD6D-80BC-4C87-9714-56B7DA62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19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EC1D288-A6AB-4957-83EB-6771B092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33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62DD1B6-8165-4F0B-A97D-6AD16079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71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D0E3546-90D6-4390-B86C-71FDEE43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10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063DDA1-2AB3-4089-B207-327C582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248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C1EC05C-C1C3-40D6-AB07-71EB7EFB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62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7A42126-C543-4747-8545-7A596E53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33625"/>
            <a:ext cx="3619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633"/>
          </a:solidFill>
          <a:ln xmlns:a="http://schemas.openxmlformats.org/drawingml/2006/main" w="0">
            <a:solidFill>
              <a:srgbClr val="0B2633"/>
            </a:solidFill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57294BA-BDFA-402B-BC8A-A1E820C9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76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B55B94E-8745-4F4A-B1E9-9B2880C6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95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3113BE9-A26A-41C8-98ED-21B4ACDC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E5ACE8E-9353-469E-AEE9-8F0794BB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B255429-9022-4F96-91C4-5518534D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352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3005DFB-6F52-4087-9B5D-52FE8E5C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71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C273D54-AE22-42D3-B098-142E2167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90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FBC4E29-5391-469B-A1B4-2C458038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01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A436E7-D40A-4946-AAD9-BE0D5793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29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65953AE-32CD-4735-8CE7-8FA7B4EF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448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750F0A7-2408-458E-93CD-48D075A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67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0A27A55-3739-439A-9DC9-6ABC25B6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86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97A895D-F365-4C4E-86B5-B0A5A8C6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105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7D15151-A981-4A2D-AA23-8370758F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56007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SIGNAL FILTER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BC49F1A-7DE7-4256-9B9F-4EC35292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1935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1302C51-71DC-49B4-A7D1-9BBAC066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193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6984B30-587E-44C1-831C-5ADFB0E2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193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has actual buyer or activity signal?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CB11B5C-6F4D-4D95-8FDE-879889EE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D5E849B-2B15-4239-8472-A41C5BF8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651E290-8C6D-4D49-9483-A0D01CF7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51472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Which route is cheap enough for a first-dollar probe?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8547B03-77B0-4F6E-97A9-F8ED45D0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1005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577556A-9981-4042-9171-4DD3BB6A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1005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0199B2F-0955-45B1-9843-E177F1BB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005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routes compose into a workflow instead of a SaaS subscription?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5675E6E-AFB4-4B31-94D3-43E83BBE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054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8BFF380-21D8-4154-BC83-8D376D59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054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A6F4B34-1D1B-4C97-95C0-3F7DB106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314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What should an agent warn on or block before spending?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5EAE2A0-9577-445C-933F-BB5CC765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78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15936B"/>
            </a:solidFill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9F9139E-384A-49B4-BEB3-8D6522E9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10B FUTURE ROUTES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01C5966-53E1-4016-A59D-5D20AB3E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5785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0B2633"/>
            </a:solidFill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5434954-9787-4DE0-8382-9F5716E7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150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B26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2633"/>
                </a:solidFill>
                <a:latin typeface="Aptos"/>
                <a:ea typeface="Aptos"/>
                <a:cs typeface="Aptos"/>
              </a:rPr>
              <a:t>PAY / PROBE / WARN / BLOCK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A883A8D-1053-406B-964D-5448F13A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F19C877-4790-4309-BFD9-FD0CB8B6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5E9DFA7-9148-4DEF-9EA5-1F6B407E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854482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51C407-4BE0-4394-9823-EC52EC93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WHAT EXISTS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C6580-6054-49C5-80FD-EC1EBCE5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public route surface is already large enough to need analysis.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28C05-F287-48DA-A117-4AD9AED5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first corpus is not complete market truth. It is enough to show the shape of the routing problem.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D10B7-4E51-4D7B-895D-5D1E4DB9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13,517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81E1B-E2F9-486E-9EA8-C94AADA1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 rows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47BC3-F456-4928-A261-142A7A72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12,857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706F1-AFD5-44FF-9464-02A66F41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distinct routes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62731-2C5F-42D0-9BD6-F392DE31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1,753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2299B-C1C1-4E39-A6A2-1DCBBDE1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providers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B23B9D-CF5C-4742-ACCE-76FBB22C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574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A44B43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A44B43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FE6AD-902E-4EFD-8792-88F8D6FD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337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networks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102F0-9892-4EC4-A2F8-535706ED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762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65B93-D6EC-4C1F-B5B4-7F7E5935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Network concentration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86FEE-210E-45B9-BE89-D0F6FDFA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Base mainnet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FF962B-99AE-4733-8DE5-B265CF2E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100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F2BB3-D1AA-4BF5-8AA8-8D03725D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4100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21488A-69E9-45E2-A6A3-2CB99D5D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815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12,043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5667A-36BE-4552-B8C9-5C40F431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Solana canonical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0A9F75-FE83-4F81-AE32-FAFD8C3F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B6AA30-B88C-42C5-AD5F-CB8949A6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8269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DE459-6A54-43CD-99DC-2C7796A8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7053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FB7276-A5FC-4CDB-A3F5-D5FECE86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Solana mainnet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0889B-582A-4005-ADD7-46E83BC3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0577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558114-8177-4E67-BD9B-1DB3114D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057775"/>
            <a:ext cx="8053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9CC5AA-E2C5-4B0B-86AA-72D17939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0292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6B4621-E9A9-44C2-B4A1-4FA002A5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24350"/>
            <a:ext cx="1752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Base dominates the listed surface today. The next layer has to separate ecosystem activity from catalog spam.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EDC7D3-2348-4168-B57F-D5EF9554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52850"/>
            <a:ext cx="4762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5475A-8B4D-404F-9A82-02F4802E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624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Cost calibration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5AC131-7822-44B6-B8FC-F638F99F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815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0.01 USDC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FDB82E-F615-426A-80BC-7A2D5BBC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810B93-94C9-4C6D-A152-2D89CF49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1C0867-BB0F-47C1-8E9C-1EBA2D5E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15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3,448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9220D2-28D7-4A3D-8845-DB1076C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0.001 USDC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6772F9-ECC7-4E5A-9C56-446EAC45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9D0446-F71F-47CA-8E85-BD3F99DB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33925"/>
            <a:ext cx="46680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3168AA-173F-4504-A5BB-DA86B4F1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7053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994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64B0F2-AE4D-422C-9673-8184F8D4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029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0.005 USDC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E0058C-0163-46DC-A815-EC512CBF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57775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1A7984-1D1F-4043-B9D0-EDC81A0F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57775"/>
            <a:ext cx="38368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51EC17-1A7A-4AA7-B771-E5980729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0292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817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0D7B14-0B01-49A0-8BDC-DCB593C2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324350"/>
            <a:ext cx="1752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useful primitive is the cheap probe: spend pennies, collect a receipt, stop early when evidence is weak.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0547FE-0E3A-45E8-8E28-793D6F55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site/public/data/routesdb.json, generated 2026-05-21 from x402scan public route records plus local RouteSignal derived fields.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FA27BD-0DE3-4471-B605-397AE6E7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840D1C-3ECE-4A34-A5F1-3B0F7F3B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632423-6E66-4C3B-9D92-2B9165E8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80354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1FD07F-3A0F-41A7-BF7D-A50AE48B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MARKET SHAPE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BD120-418B-4D35-84C1-CDEFB807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interesting story is not the average route. It is the long tail plus the distortions.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068FF-0B75-483A-8B7F-11D84919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A good agent procurement layer has to show clusters, route farms, niche utilities, and where activity actually appears.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EFFD5-9408-49DC-9DA1-324FDF34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6143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479BD-FF6D-4EC7-AD59-87C33892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Derived route clusters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0F884-DEB7-42CD-A971-1A140585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Long-tail utilities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0A26F-CA8A-4B01-B561-CCFAF6F6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337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39E86-C1A1-43BE-960F-0B41593D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337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9FA44-7681-4D5C-B58A-618081BF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051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5,243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2BE6F-A55B-40FC-9598-0B975221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Onchain market data and wallets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91997-7B44-4D1F-89FA-9E7FD39F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3377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3D6FF-67BF-41A2-8CC1-BCF8B2E2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33775"/>
            <a:ext cx="167863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EEA9B-D86E-4319-98EC-5AAD0EAF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052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3,696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D68A6-F91A-4690-8E59-98A8EB57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 farms and catalog inflation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C131DB-FBAC-4AB6-9256-39811D3C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338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0BF33C-7251-4954-8BB8-B2AF32EE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33825"/>
            <a:ext cx="92742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B0A7A0-24F5-413C-A9BA-8317778C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052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2,042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885721-C2C7-45FB-95F6-49B4336C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External action channels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1DBB3F-9F4D-46CA-BD28-7596AFCC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3387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4522E-2E24-4D81-8945-7877E2E4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33875"/>
            <a:ext cx="39331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301700-59D9-496A-935A-3C9E095C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053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866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46088-8C54-440E-8AA2-EA2858E0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Sensitive verification and legal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63AAB0-7C72-4B87-A9B2-D93B0364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2381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82596-0855-41FA-BDFE-E209ED90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733925"/>
            <a:ext cx="39104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A0A8"/>
          </a:solidFill>
          <a:ln xmlns:a="http://schemas.openxmlformats.org/drawingml/2006/main" w="0">
            <a:solidFill>
              <a:srgbClr val="8BA0A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BE9864-8160-4B39-8EAD-E404EEE1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053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861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F8CB06-3B0F-4CB1-9026-993372EF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529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This is why a flat table feels bad: the reader sees URLs, not the market. The product has to compress routes into procurement-relevant mental models.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A2FFF-15B0-4589-B988-2A25F389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342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E75F08-2936-424E-A09C-93E03AF5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DF9726-9598-4EFD-B97C-F83C9504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670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HIDDEN TENSION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0FF5EF-4BDD-44FC-9195-43B0663A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33700"/>
            <a:ext cx="2971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Counts reward catalog inflation. Agents need evidence, cost, and stop rules.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F7C192-A49C-4E6A-AA30-D0DDFFAC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24300"/>
            <a:ext cx="342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CD3462-E837-46B4-8EB6-FE72F2B7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243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7D7DA3-9FC6-4B2A-9E1D-CEF41A4B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2971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USEFUL SURPRISE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DBA2A4-954F-46EA-972A-DA331227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381500"/>
            <a:ext cx="2971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The weird long tail is the opportunity: tiny paid capabilities become ingredients.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24C28C-4728-46DD-AFBA-DC8D7E71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RouteSignal derived cluster fields in site/public/data/routesdb.json.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F9436-B1D9-4376-B385-B9C19AB9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8A62EF-CD82-4B3F-967A-6E75A0EC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415AF8-C6D1-46B9-A516-1807536D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42042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756163-807F-45A2-A755-7D207CF2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PRODUCT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7973F-A8E2-4E10-BB25-4401E5D3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RouteSignal converts listings into procurement decisions.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F1889-4E02-49D4-9C05-17AC92A1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Every route should answer a next-action question: pay, probe, warn, or block.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A6AE0-A0D4-46B1-B99F-889B0D77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7A12E-EB08-467C-8468-0D36796E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Verdict split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9D277-581E-4339-BA98-638AA3F9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7202A-FAB3-4715-AA2C-C9F7B2B8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90875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897E7F-23D9-4EE0-94C6-469C2932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90875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D7241-9FA3-4323-A11F-F82AD479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623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6,259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6F43D-AC3F-4D2D-B0FF-749DF1BE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B432E-FA75-4A86-9018-FAC4C06D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67125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1634E-AA70-431C-A33C-E1AF43BC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67125"/>
            <a:ext cx="183726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BDBE5-237B-48F8-9F02-53494EEE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5,749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E1988A-1214-423B-B47A-FDF9EF99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WARN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2FD48-9AB0-445D-88CA-C815850B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43375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DF4DC-FBDF-4EC9-9977-701BEF4D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143375"/>
            <a:ext cx="26045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833779-83F1-4B03-BFA9-0817B851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1148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815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03294A-15FF-4368-8EBB-9652F528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BLOCK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2C314-A370-4353-A10E-A41E491D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19625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4BC232-AFAC-4422-9365-EF199BCF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19625"/>
            <a:ext cx="22178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C2DABF-1F52-40CE-A6DC-23D95D2D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9105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694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BAF31E-73A3-48B8-82F6-A68F775F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457450"/>
            <a:ext cx="4838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EF1F6-44D1-4148-997A-980CF0A0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860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7955C4-50C1-4E9F-904A-93BDA65D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11,728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64B2E-AA13-4B9B-8A3D-A71B1A71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metadata complete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EC0930-59DF-4BD8-83DC-E6424705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279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23B0D8-5DB8-4609-B353-DE7D64ED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probe candidates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2718C2-AD04-4BE2-90C4-7A6870F8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4325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5FFFE9-8052-4873-815C-E81ADB44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19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activity observed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C43492-6975-4E01-8939-3D7A2417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A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119DEB-A73B-4E03-A918-FDCB000B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0550"/>
            <a:ext cx="47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B43"/>
          </a:solidFill>
          <a:ln xmlns:a="http://schemas.openxmlformats.org/drawingml/2006/main" w="0">
            <a:solidFill>
              <a:srgbClr val="A44B4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02D266-1069-44FE-9B3E-2F1369EF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33900"/>
            <a:ext cx="3505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Caveat: 13,150 routes had no observed activity in the local scrape. That is not failure; it is exactly why signal matters.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11C5F3-1A3C-429B-93CE-89BB060B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Source: summary.verdicts, summary.evidence_stages, and summary.activity_signals in routesdb.json.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D76B39-E6DA-4B5A-9B3F-6AA1CD5B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003DD2-08EF-44F8-81E5-9D79AE63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213F12-9285-4587-96F2-8AF79D5C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005844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26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A1320A-9AC1-415A-899A-2F280133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THE WEDGE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EFFE9-AB18-4B30-9607-A8CCF7DC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Composition is where paid routes become interesting.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7AF11-E1C2-43BE-B4D3-AEAD80FA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When every API call can be bought separately, agents can assemble strange workflows from cheap ingredients and stop as soon as the receipt trail is decisive.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7A41AC-2810-4301-A445-C1AC9CE3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9953625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303D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9136-2586-489A-9EC7-119FA7E5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Supplier screener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42451-CD4A-475F-A89F-CFEBE150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46393-1B7A-4F62-B34C-14BA5874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BD216-B032-43A3-AAB7-C9EEAFD9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EC54F-376F-4E3A-8B60-DCC1C9A9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752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19DF1-2CB4-46BF-88ED-FBDB2742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924175"/>
            <a:ext cx="581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sanctions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E9133-21FE-4547-9A9C-96CD8DA5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73319-F82A-402C-B0A3-9CDF9738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DC46A-7A07-4C07-AF28-4B14F0C9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shipment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EF28C-3991-46FA-8895-10D0C30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A0431-6265-46A0-914D-79172491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8384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99522-597F-4C60-A41D-5E15E0EF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241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owner graph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0B0D52-772B-44AC-85F2-17BACE13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956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E59FE-DA8F-4333-ADE7-9EC0F4EB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D3E18-677B-4E5B-8EE4-E9D2C9CB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9241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receipt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49514B-837C-48B7-94D7-3004C4BB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242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Viral claim trace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126138-CDE4-4A4F-BCB6-38415EB3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86150"/>
            <a:ext cx="95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59832D-9A95-49DE-B1DA-2B0D622E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5718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claim 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7EEB81-B6B7-4CBC-84C3-69F4D3E4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8E3F42-84BA-4ABD-9A69-B6F19F12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10191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F241DC-4D7E-49D5-9325-F305C95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71875"/>
            <a:ext cx="847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reverse image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E4FA4F-FD6B-4EFC-861B-EC2735F1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C83181-4396-469A-986E-357AAEB8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861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AC28F3-8FA6-4306-BFED-402AACDF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5718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fact check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48F71A-819C-4AF0-B0B9-C64E3F9D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1CADBC-570B-45CD-AD65-FBA7EC02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486150"/>
            <a:ext cx="81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F91BEB-996E-4F2E-90F2-33C1F9BB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718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source 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48A186-B929-40ED-90C7-C2FE66A0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433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2C7FB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1C22BC-1241-4FA5-8BA9-36936663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861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2C7FB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45D86E-17CB-4C11-9438-EFCBB1BB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718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6E102D-48C8-4DE4-8FAD-F57C048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Neighborhood check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799461-1054-45CA-9978-3D802566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F2654F-97D2-4891-B88C-59B8DD6A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reviews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5FAA24-4CDB-463B-9C54-FC7EC25B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7780EB-2B52-498B-AA54-A28F3A06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D335BD-8BD5-4909-BF8B-1F2704DA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crime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BE7E19-6E1F-4169-8452-820A72F3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001BCA-1E37-4499-A9E1-AE0E11B8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338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BF79FE-7767-42FD-9522-091BE766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195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transit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92B6D5-A925-4E57-A99A-B8385AC3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CD0C83-8D65-45E4-9D23-B7D27699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33850"/>
            <a:ext cx="752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A26869-1B19-4446-B180-F495C20A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219575"/>
            <a:ext cx="581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broadband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EAB4DF-E0DF-4C4D-A550-BBF9FD43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1910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D9942C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72305A-82FD-4B66-89A0-D654C58D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338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D9942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3FB0FF-D33F-496B-9268-6BEAC68A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95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attestation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F13D22-A252-471E-ABDB-C388790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9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Wallet diligence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0848BB5-0CBE-4ED7-8FB3-433C629E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781550"/>
            <a:ext cx="8858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CBA539-7D17-414D-965C-694A5790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67275"/>
            <a:ext cx="71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7E5E2"/>
                </a:solidFill>
                <a:latin typeface="Aptos"/>
                <a:ea typeface="Aptos"/>
                <a:cs typeface="Aptos"/>
              </a:rPr>
              <a:t>wallet risk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52952FF-82FC-4105-920D-69A3E3FD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93AFFC1-A613-4259-85C3-9A582FAE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81550"/>
            <a:ext cx="10191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E93E9E-5C3E-4F4C-89B4-E4E8409E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67275"/>
            <a:ext cx="847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token history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7223D1-EA92-4543-8ABC-ECA2D240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D2B810-FDFE-44D4-A53E-2C6A57F6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81550"/>
            <a:ext cx="95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23D4CF3-4A75-41E7-BB46-9CFCE638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867275"/>
            <a:ext cx="781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social graph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C2D8D4F-3689-4EE3-A966-76EF9D63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B4F85F-D95F-457D-90CC-3BB6E743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815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E7E538A-2ACA-49F1-A4EB-94026C12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8672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42568B-502F-4A58-A77E-8C250151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838700"/>
            <a:ext cx="114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62B488"/>
                </a:solidFill>
                <a:latin typeface="Aptos Mono"/>
                <a:ea typeface="Aptos Mono"/>
                <a:cs typeface="Aptos Mono"/>
              </a:rPr>
              <a:t>|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33BEB2A-042C-42DD-BDE2-0761737D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81550"/>
            <a:ext cx="72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62B48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973703-F186-4BCE-BB52-D077CE93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867275"/>
            <a:ext cx="552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memo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CA0B313-F0EA-4DB7-87ED-17837FA6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00350"/>
            <a:ext cx="2571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287605D-B936-481A-B578-2134630A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003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CB91AD7-6770-445D-AD46-7B4AA42E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First-dollar rule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9059A25-122F-49CB-BD7F-FCFD9EEB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Start with the cheapest call that can kill the task.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16004D5-B0B6-4DEC-B0A0-BCED38C4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2571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2C2F685-E89C-4EF4-AD94-5ADACA1B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9684735-8F0C-4C53-90E0-88BAE0C2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957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Stop rule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B625C1-B307-4BEF-8A76-BDCAAC4C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3434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Stop on contradiction, sanctions, reused media, or weak evidence.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7B2207-1C8B-4C05-BEDB-DD69775E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579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995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9959A"/>
                </a:solidFill>
                <a:latin typeface="Aptos"/>
                <a:ea typeface="Aptos"/>
                <a:cs typeface="Aptos"/>
              </a:rPr>
              <a:t>Recipe costs are illustrative; corpus costs cluster around micro and cheap probe calls, with premium calls reserved for later evidence.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CC6E45D-6E58-4A59-82F8-04D7A173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8959542-3E99-4EA1-8152-D02D0441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64C379A-3F24-4647-A2BF-406F607E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011686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EBA334-D127-4E73-8FCB-21B36FBF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THE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83306-0471-4F1F-A238-B2015C0E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0202A"/>
                </a:solidFill>
                <a:latin typeface="Aptos"/>
                <a:ea typeface="Aptos"/>
                <a:cs typeface="Aptos"/>
              </a:rPr>
              <a:t>Three pages make the thesis inspectable.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5EF85-6A07-46FE-B5AA-D15BD2A6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The goal is not to simulate payments. It is to show the field guide, the compression layer, and the composition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671E2-02F1-47C8-A05E-F59CC849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15C358-7ECA-423C-9957-4FB9AA73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791A2-4ECE-4846-A8C5-21401FAB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936B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936B"/>
                </a:solidFill>
                <a:latin typeface="Aptos"/>
                <a:ea typeface="Aptos"/>
                <a:cs typeface="Aptos"/>
              </a:rPr>
              <a:t>RoutesDB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6216A-3420-4734-9398-D63895A1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A processable corpus of routes with provider, cost, network, risk, evidence, activity, cluster, and verdict metadata.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AFFCF3-37A9-4A26-AA9F-4FC0C03E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30E79-3516-437C-8BBF-6D004198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14850"/>
            <a:ext cx="2000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36B"/>
          </a:solidFill>
          <a:ln xmlns:a="http://schemas.openxmlformats.org/drawingml/2006/main" w="0">
            <a:solidFill>
              <a:srgbClr val="1593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00D06-25A4-4EC8-B860-0FBCCF49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0AEF72-23F9-4289-BECD-6105DCE7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FA384C-CE3C-4252-975F-92DCF0F6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C7FB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C7FB8"/>
                </a:solidFill>
                <a:latin typeface="Aptos"/>
                <a:ea typeface="Aptos"/>
                <a:cs typeface="Aptos"/>
              </a:rPr>
              <a:t>Analyzer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0D6DF-004F-4D00-BAA4-9D9C2CB3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Visual compression: network mix, cost bands, clusters, route farms, active anchors, and evidence gaps.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6FCFD-7452-46EE-8CF8-B652A876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5B9D0F-8548-49EA-BF88-0D55812D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14850"/>
            <a:ext cx="16002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34BD79-F7C8-4222-9911-49EE2631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2890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A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5D409-DC22-4F30-AA54-84A4797B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28900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48DA98-193F-4E13-9980-801C57CE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9560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9942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9942C"/>
                </a:solidFill>
                <a:latin typeface="Aptos"/>
                <a:ea typeface="Aptos"/>
                <a:cs typeface="Aptos"/>
              </a:rPr>
              <a:t>Wizard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410A3-F31C-4B45-949B-54AB90D5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4384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10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0202A"/>
                </a:solidFill>
                <a:latin typeface="Aptos"/>
                <a:ea typeface="Aptos"/>
                <a:cs typeface="Aptos"/>
              </a:rPr>
              <a:t>A recipe lab that turns capabilities into long-tail workflows, first-dollar probes, stop rules, and missing route ideas.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EF1796-275C-477E-A450-E3CC253D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476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F4475-2A9E-4397-9621-5623A9B2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14850"/>
            <a:ext cx="22669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BB58A1-3159-415D-8AE6-9F12E8C4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533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2633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0B2633"/>
                </a:solidFill>
                <a:latin typeface="Aptos Mono"/>
                <a:ea typeface="Aptos Mono"/>
                <a:cs typeface="Aptos Mono"/>
              </a:rPr>
              <a:t>data -&gt; signal -&gt; composition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2331A-361E-403D-8799-677819C5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6"/>
          </a:solidFill>
          <a:ln xmlns:a="http://schemas.openxmlformats.org/drawingml/2006/main" w="0">
            <a:solidFill>
              <a:srgbClr val="E4EA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468ED4-F6D8-4263-8DC4-7DBA6D7C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56D7FE-438B-440B-8762-59F6DA8D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5737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737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329370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26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B447CA-FB5D-4A7A-A8B9-3483B48B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2B4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2B488"/>
                </a:solidFill>
                <a:latin typeface="Aptos"/>
                <a:ea typeface="Aptos"/>
                <a:cs typeface="Aptos"/>
              </a:rPr>
              <a:t>CLOSING 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94105-F128-434A-B0D3-21887B90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8858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0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When APIs become per-call ingredients, the product is route intelligence.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61CE2-0128-4309-AF7D-7DB792AC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7429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is the starting field guide: what exists, what has signal, what deserves a probe, and what weird workflows become possible.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2E253-9859-454E-B3DF-53C15624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0B980-5674-4662-B9BC-99202074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EDDFF-FD39-45EC-9576-B040821F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146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mapped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2E896-9DD2-4C56-B260-1EBDBB47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9557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13,517 listed route rows, provider shape, cost bands, networks, clusters, risk flags, verdicts.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8E2F1-9B21-465C-9325-BF7DC2A7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E250F-D464-438D-AF0E-4FAE88D7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7FB8"/>
          </a:solidFill>
          <a:ln xmlns:a="http://schemas.openxmlformats.org/drawingml/2006/main" w="0">
            <a:solidFill>
              <a:srgbClr val="2C7FB8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076F2E-CC68-45BC-8AB8-46EAA31D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194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1DAD70-AD0A-4CD9-A975-5F4FE673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0042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Why flat route directories are hard to read and why counts alone can mislead agents.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44199-B5D2-420C-907D-A7E0034B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553E9-90E5-4452-970A-45351292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42C"/>
          </a:solidFill>
          <a:ln xmlns:a="http://schemas.openxmlformats.org/drawingml/2006/main" w="0">
            <a:solidFill>
              <a:srgbClr val="D9942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25F4B-2B4B-4905-8233-85A7D1BC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2432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we demonstrate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3B69C-2A80-4DA9-AECB-DDCF9255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0527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A three-page demo that turns the corpus into route analysis and long-tail recipe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77243-2D47-4DC7-A5A3-98F49273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962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745"/>
          </a:solidFill>
          <a:ln xmlns:a="http://schemas.openxmlformats.org/drawingml/2006/main" w="9525">
            <a:solidFill>
              <a:srgbClr val="3553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7F7C8-E6AB-4565-9CD0-023A4AA7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B488"/>
          </a:solidFill>
          <a:ln xmlns:a="http://schemas.openxmlformats.org/drawingml/2006/main" w="0">
            <a:solidFill>
              <a:srgbClr val="62B48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A36E6-F3D3-43DF-A42E-0AA8D206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29175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What comes next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21570-B9A7-413F-A508-61806BA1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10125"/>
            <a:ext cx="657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7E5E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7E5E2"/>
                </a:solidFill>
                <a:latin typeface="Aptos"/>
                <a:ea typeface="Aptos"/>
                <a:cs typeface="Aptos"/>
              </a:rPr>
              <a:t>Live probes, receipt trails, provider benchmarks, and a real procurement policy for agent wallets.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FD849-FC1D-48AC-9167-29CCF8DA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962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1B6B10-69D1-4389-8138-07A777A4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09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3FAF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3FAF7"/>
                </a:solidFill>
                <a:latin typeface="Aptos"/>
                <a:ea typeface="Aptos"/>
                <a:cs typeface="Aptos"/>
              </a:rPr>
              <a:t>Talk track: We mapped the route surface, found the noise, then built the compression and composition layers agents will need when paid APIs become abundant.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AD96B-D0CC-4FB5-B6BF-75C15AFD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35D"/>
          </a:solidFill>
          <a:ln xmlns:a="http://schemas.openxmlformats.org/drawingml/2006/main" w="0">
            <a:solidFill>
              <a:srgbClr val="35535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16CAA-8186-4C67-B99F-D9C7F09D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3810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RouteSignal hackathon pitch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E8711-3212-4AC6-AD64-C73F7D69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19850"/>
            <a:ext cx="428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B8CAD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CAD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930662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2026-05-21T04:15:09.3620000Z</dcterms:created>
  <dcterms:modified xsi:type="dcterms:W3CDTF">2026-05-21T04:15:09.3620000Z</dcterms:modified>
</coreProperties>
</file>