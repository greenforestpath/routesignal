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2a91efefc604c46" /><Relationship Type="http://schemas.openxmlformats.org/officeDocument/2006/relationships/extended-properties" Target="/docProps/app.xml" Id="R424825ad25c04c70" /><Relationship Type="http://schemas.openxmlformats.org/officeDocument/2006/relationships/officeDocument" Target="/ppt/presentation.xml" Id="R0ba3ae9669c74ef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1c0ef667ef04f59"/>
  </p:sldMasterIdLst>
  <p:notesMasterIdLst>
    <p:notesMasterId xmlns:r="http://schemas.openxmlformats.org/officeDocument/2006/relationships" r:id="R8dd81e4fd9844cd1"/>
  </p:notesMasterIdLst>
  <p:sldIdLst>
    <p:sldId xmlns:r="http://schemas.openxmlformats.org/officeDocument/2006/relationships" id="256" r:id="Rcb894ee1e90d4e6c"/>
    <p:sldId xmlns:r="http://schemas.openxmlformats.org/officeDocument/2006/relationships" id="257" r:id="R0b454a5993b245df"/>
    <p:sldId xmlns:r="http://schemas.openxmlformats.org/officeDocument/2006/relationships" id="258" r:id="Re0778b2fcf314996"/>
    <p:sldId xmlns:r="http://schemas.openxmlformats.org/officeDocument/2006/relationships" id="259" r:id="Re8c2160a96514d23"/>
    <p:sldId xmlns:r="http://schemas.openxmlformats.org/officeDocument/2006/relationships" id="260" r:id="R6a94fdcb2fa24efb"/>
    <p:sldId xmlns:r="http://schemas.openxmlformats.org/officeDocument/2006/relationships" id="261" r:id="R500dfd2d29754535"/>
    <p:sldId xmlns:r="http://schemas.openxmlformats.org/officeDocument/2006/relationships" id="262" r:id="Rccb556179dda4e0c"/>
    <p:sldId xmlns:r="http://schemas.openxmlformats.org/officeDocument/2006/relationships" id="263" r:id="R35f5a9d9717a494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c0ef667ef04f59" /><Relationship Type="http://schemas.openxmlformats.org/officeDocument/2006/relationships/theme" Target="/ppt/theme/theme1.xml" Id="Rad9a25a6b63d47d9" /><Relationship Type="http://schemas.openxmlformats.org/officeDocument/2006/relationships/notesMaster" Target="/ppt/notesMasters/notesMaster1.xml" Id="R8dd81e4fd9844cd1" /><Relationship Type="http://schemas.openxmlformats.org/officeDocument/2006/relationships/presProps" Target="/ppt/presProps.xml" Id="R0f7a00cab19646ff" /><Relationship Type="http://schemas.openxmlformats.org/officeDocument/2006/relationships/viewProps" Target="/ppt/viewProps.xml" Id="R2601a54a85b043ca" /><Relationship Type="http://schemas.openxmlformats.org/officeDocument/2006/relationships/tableStyles" Target="/ppt/tableStyles.xml" Id="R9f69494c93f44ca9" /><Relationship Type="http://schemas.openxmlformats.org/officeDocument/2006/relationships/slide" Target="/ppt/slides/slide1.xml" Id="Rcb894ee1e90d4e6c" /><Relationship Type="http://schemas.openxmlformats.org/officeDocument/2006/relationships/slide" Target="/ppt/slides/slide2.xml" Id="R0b454a5993b245df" /><Relationship Type="http://schemas.openxmlformats.org/officeDocument/2006/relationships/slide" Target="/ppt/slides/slide3.xml" Id="Re0778b2fcf314996" /><Relationship Type="http://schemas.openxmlformats.org/officeDocument/2006/relationships/slide" Target="/ppt/slides/slide4.xml" Id="Re8c2160a96514d23" /><Relationship Type="http://schemas.openxmlformats.org/officeDocument/2006/relationships/slide" Target="/ppt/slides/slide5.xml" Id="R6a94fdcb2fa24efb" /><Relationship Type="http://schemas.openxmlformats.org/officeDocument/2006/relationships/slide" Target="/ppt/slides/slide6.xml" Id="R500dfd2d29754535" /><Relationship Type="http://schemas.openxmlformats.org/officeDocument/2006/relationships/slide" Target="/ppt/slides/slide7.xml" Id="Rccb556179dda4e0c" /><Relationship Type="http://schemas.openxmlformats.org/officeDocument/2006/relationships/slide" Target="/ppt/slides/slide8.xml" Id="R35f5a9d9717a494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8047609b89946a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2c50e76c8ef4b39" /><Relationship Type="http://schemas.openxmlformats.org/officeDocument/2006/relationships/notesMaster" Target="/ppt/notesMasters/notesMaster1.xml" Id="Rc5a17f10897f498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54c0f3d28ee4752" /><Relationship Type="http://schemas.openxmlformats.org/officeDocument/2006/relationships/notesMaster" Target="/ppt/notesMasters/notesMaster1.xml" Id="Rb4668d5d98b648e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e2cefcee5f741dc" /><Relationship Type="http://schemas.openxmlformats.org/officeDocument/2006/relationships/notesMaster" Target="/ppt/notesMasters/notesMaster1.xml" Id="Rcf43740b3091420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62a8dbcfdcd488d" /><Relationship Type="http://schemas.openxmlformats.org/officeDocument/2006/relationships/notesMaster" Target="/ppt/notesMasters/notesMaster1.xml" Id="Ra8c583222c844ce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74e84da7dfc4ef0" /><Relationship Type="http://schemas.openxmlformats.org/officeDocument/2006/relationships/notesMaster" Target="/ppt/notesMasters/notesMaster1.xml" Id="R6c6b414985684a2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9702a3f57464661" /><Relationship Type="http://schemas.openxmlformats.org/officeDocument/2006/relationships/notesMaster" Target="/ppt/notesMasters/notesMaster1.xml" Id="R941b5ef6b25e491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7f1396e86264604" /><Relationship Type="http://schemas.openxmlformats.org/officeDocument/2006/relationships/notesMaster" Target="/ppt/notesMasters/notesMaster1.xml" Id="R0facaa2fdc4a430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24531a58ada4a19" /><Relationship Type="http://schemas.openxmlformats.org/officeDocument/2006/relationships/notesMaster" Target="/ppt/notesMasters/notesMaster1.xml" Id="Rad1534e7cae64bc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83af5ba62d4852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6b349e05bac1420f" /><Relationship Type="http://schemas.openxmlformats.org/officeDocument/2006/relationships/slideLayout" Target="/ppt/slideLayouts/slideLayout2.xml" Id="Rd3a687b170af4c3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3a687b170af4c3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eadc45c45a48f4" /><Relationship Type="http://schemas.openxmlformats.org/officeDocument/2006/relationships/image" Target="/ppt/media/image.png" Id="Rf593bb4497d142ca" /><Relationship Type="http://schemas.openxmlformats.org/officeDocument/2006/relationships/notesSlide" Target="/ppt/notesSlides/notesSlide1.xml" Id="R01069fc6114c4bd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665230bcdc84d24" /><Relationship Type="http://schemas.openxmlformats.org/officeDocument/2006/relationships/notesSlide" Target="/ppt/notesSlides/notesSlide2.xml" Id="R4f9d33692c364cc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9a7fcf947b48f3" /><Relationship Type="http://schemas.openxmlformats.org/officeDocument/2006/relationships/notesSlide" Target="/ppt/notesSlides/notesSlide3.xml" Id="Rf2f51ac88907416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8fb1d3bee39426f" /><Relationship Type="http://schemas.openxmlformats.org/officeDocument/2006/relationships/notesSlide" Target="/ppt/notesSlides/notesSlide4.xml" Id="R29d88eafd4f7466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c245c582c645de" /><Relationship Type="http://schemas.openxmlformats.org/officeDocument/2006/relationships/notesSlide" Target="/ppt/notesSlides/notesSlide5.xml" Id="R1a176d9824e7467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b15afafcc34baf" /><Relationship Type="http://schemas.openxmlformats.org/officeDocument/2006/relationships/notesSlide" Target="/ppt/notesSlides/notesSlide6.xml" Id="R6ec1c7702f16454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a7d8b136d54c3e" /><Relationship Type="http://schemas.openxmlformats.org/officeDocument/2006/relationships/notesSlide" Target="/ppt/notesSlides/notesSlide7.xml" Id="R9dc35f996b0f4e0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991eb393a448c4" /><Relationship Type="http://schemas.openxmlformats.org/officeDocument/2006/relationships/notesSlide" Target="/ppt/notesSlides/notesSlide8.xml" Id="R47e007ce67e7402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93bb4497d142ca"/>
          <a:srcRect xmlns:a="http://schemas.openxmlformats.org/drawingml/2006/main" l="23814" t="0" r="2381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0250" y="0"/>
            <a:ext cx="63817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5C4E98-0E2E-43B1-B7A1-4871B6829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0"/>
            <a:ext cx="838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>
              <a:alpha val="8470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715C3F-794C-4AE3-B9E0-CAC313501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86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15936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BF86B7-AA53-4D59-A405-54BF52A2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85800"/>
            <a:ext cx="123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936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936B"/>
                </a:solidFill>
                <a:latin typeface="Aptos"/>
                <a:ea typeface="Aptos"/>
                <a:cs typeface="Aptos"/>
              </a:rPr>
              <a:t>HACKATHON PITCH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D7D5B7-AF99-4183-B135-B7DDB6FCE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04900"/>
            <a:ext cx="4762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435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RouteSignal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C9ED30-4536-4306-8F6D-85631D23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4953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0B2633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2633"/>
                </a:solidFill>
                <a:latin typeface="Aptos"/>
                <a:ea typeface="Aptos"/>
                <a:cs typeface="Aptos"/>
              </a:rPr>
              <a:t>A field guide to the long tail of paid API routes for agents.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4A4A85-7075-482E-AC70-49C6CB6D6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00400"/>
            <a:ext cx="4762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If agents can buy one API call at a time, the hard problem becomes routing: what exists, what has signal, what should be probed, and what can be composed.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6154C2-E80E-4E56-8497-1D5DC2A15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8630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936B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936B"/>
                </a:solidFill>
                <a:latin typeface="Aptos"/>
                <a:ea typeface="Aptos"/>
                <a:cs typeface="Aptos"/>
              </a:rPr>
              <a:t>13,517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F1720D-C129-4609-B99F-358572946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625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route rows in local corpus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9650A4-0019-4861-AE17-1D78D740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68630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C7FB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C7FB8"/>
                </a:solidFill>
                <a:latin typeface="Aptos"/>
                <a:ea typeface="Aptos"/>
                <a:cs typeface="Aptos"/>
              </a:rPr>
              <a:t>1,753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F8EC8F-12D6-4ECF-8696-9BF3B89F2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1625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providers mapped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D6F7FC-2505-4E22-A6C9-96B21A1BC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8630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D9942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D9942C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77BF8E-C379-431A-BD19-E1F3D8B40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625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derived verdict states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B45F79-5FFC-46D7-B38B-5303DB27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86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AE6"/>
          </a:solidFill>
          <a:ln xmlns:a="http://schemas.openxmlformats.org/drawingml/2006/main" w="0">
            <a:solidFill>
              <a:srgbClr val="E4EA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530DCE-77AD-4D0C-8411-A2E4659B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381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RouteSignal hackathon pitch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341A16-C8F7-4BB5-98F9-0D57204A9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19850"/>
            <a:ext cx="428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432276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06280A-2C87-4922-BBA1-17395B82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936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936B"/>
                </a:solidFill>
                <a:latin typeface="Aptos"/>
                <a:ea typeface="Aptos"/>
                <a:cs typeface="Aptos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EF07DE-CEF2-4C0B-A1C5-D11F67DB8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8858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0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A route explosion turns API discovery into procurement.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C96CCF-B821-4BAC-91F6-B7FFF776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7429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The future is not a better directory. It is agents deciding which tiny paid capability deserves the next dollar.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A4366A-7909-4DAD-BB47-4657A65DA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14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1240EF-1F82-46F2-AA5D-DF1E6627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5527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B3B270-CE01-429E-A5C4-A792DE5B2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908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977D2B-1997-468F-AAF8-F65A1DFDB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628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78BC12-1E23-465C-89FB-F0B4F5A4A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543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325945-6097-4985-9526-5F349B3F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5812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A4EBAE-C020-4213-946C-F506EC11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6193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901E1C-DF42-44BB-8472-435C3E218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533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572B43-EDA8-4E5C-9AD5-6B8BA5AB1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717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A190C8-4A3D-4F8A-8A7B-535605B4A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6098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91E2DC-D8B0-4C5F-82A9-923732403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24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67AED0-B7BA-4CF9-B5C1-1B111053F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62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990B68-B8A9-418F-A424-88AD9A5AA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00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D0BDBC-3F16-40D1-B060-AC504DC7E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514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6502B3-DBF1-41A6-B30F-7B566E0E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5527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90D16F-B28E-48EE-B7F2-4204A0645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5908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C87DB9-1D12-46ED-B2F0-13F0120D9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527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70DD99-0214-4599-9F63-BEDBD848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867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BC0F0D-2545-4EAC-8429-56F96935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05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CAD59F-2EA1-4F07-B8EC-4E5C692FF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943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2FA721-515A-4E4F-ACE2-C8EF185AA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8575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AC41C3-BE1D-4B90-B448-4461E7B1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895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0C4B3D-6F43-409F-8946-785CD6AE5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9337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D55E3A-90F4-4EB2-8F66-70B159CCF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847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37AC29-6E7E-4935-9C34-C4389F107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8860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6C3B70-338B-4354-8517-7AE451DFE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924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AD8120-8CF4-471A-8F91-DD18C4147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8384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33BFAB1-196E-4C2E-9253-84C43D6B9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8765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34D057-9D85-42DD-A286-28B7817D2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914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EA1797-6743-4841-A8B3-4ABCBA210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9527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732F7EA-AE59-4B35-94A2-B1A32658B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867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E7A29EB-E695-4EDC-AFD6-9C30B63CD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905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90710D2-2717-46E1-9130-3FF1D9F25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670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7CE8725-D0AE-4A13-8B55-158ACDE80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813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44A1C59-6D3C-42AB-AC05-551157F8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194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B66F15F-0884-4DBD-83D8-93BC3534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2575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CF3EBE9-38A1-45F8-BC85-4A33F3A8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372AD63-90E1-43D8-82D8-CB08A65A6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2099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D2E87F6-A3CC-466C-999D-56EAE848B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248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2D01BD6-3681-47BC-AB0B-362AAEE6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1623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E2BD45F-7385-4A5D-989F-64A982B1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004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F27EAA4-A1B5-4252-8875-278296E7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2385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AFCBE49-3F1F-46D2-9110-252DBDF1B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276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CB510D3-115E-4433-BFA0-36D8F0C3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190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9D23018-6D48-4725-93EA-773F1101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228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A470371-E85F-4199-8F1D-0F347EAD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2670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6468DB0-0C44-4D8B-9DF2-0933D197B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813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65FB5C9-1306-4C1C-AFB5-E3D26925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2194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F45A012-673E-4CAD-B22A-7CFDBA01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814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688FBCB-2C92-41FA-9C53-49C15FA99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E7E27B7-7C0E-42CD-A787-6D136E15D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33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6175563-C851-484A-B005-DA615E84F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571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70F51BF-7908-4AC3-8203-15395F33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4861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0FDDBAF-89D6-4CFF-921E-295B3AD7F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524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1174D9C-5B31-4366-A90A-63DE8F7F4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623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65671A5-0828-4A9D-8ACA-8DC455D4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6004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B213283-18E5-4F92-9C87-D60B556F2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514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1B90540-CCE5-4B5C-A3E1-99845C444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552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6973122-5E96-4D06-9F6B-011C591AD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909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50405AF-9AA0-44CB-9E8C-2B29A6C2C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5052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10A1D8B-B3FE-46B3-A096-71B7D49BB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433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BD0506C-C26B-4E4F-89C8-744EFB87D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814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EDAB8AD-73ED-417C-A109-ADF55314D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75DBF11-2F58-4E10-B867-05A4D30B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533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CB47729-5652-4176-B3C9-EE41241A9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95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7F53D6C-8F02-456C-A7D7-3EEAB7BB2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8100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CD45085-A338-41A6-A3A4-52211EA2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481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E62C9C0-3310-4237-888D-D99DA7E86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8862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A88F51E-C671-4FC3-9B39-CFE0DDBD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243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002BF9A-A5E7-46E2-B482-F60A20DF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838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6B599B1-7740-4F8D-9EA9-09604DDF0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76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B993998-3922-453A-8FC1-517D6003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1AACCE1-5230-4C45-86F9-029E76377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8290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7C6BA69-B5AB-4BC8-9232-0A40387DB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8671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823F967-0FBF-480F-96C9-E4AA909EE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05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AF7F706-AC37-455D-AA56-A6109EFFE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819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6416DF6-D545-45E8-A20A-24788BFCA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857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36ACEC1-C819-4445-9CAD-CCBCF61CF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895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86F336C-C54A-47F9-8481-42DF5B891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8100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630886B-3C88-48D9-834B-7EA209169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8481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6B3E07DC-124A-4ACF-A67D-0ABBC0529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100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947CF18-0A74-4158-AAE7-399149AD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2481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7B21D53-346D-447F-AD44-56CA0AFA3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62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D6F9D32-7A8A-4680-AC17-DC27746B2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D395AAA1-5E10-4CF2-835D-69A3F0C8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38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3D5AB63-E68F-4D62-BEF1-D6628701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152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46E9301-886B-439A-938B-297D4963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1910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C441074-50E7-430F-ABEA-8DC458E7D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2291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1E24916B-1B38-4C91-AF2D-5E35C0D1F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1433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DB3069E-7FC6-43FE-B97F-5E5A37CDF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181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A4BE8A6-C458-4C4B-A86A-935F15C6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219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5E8520D-072F-45C4-B1C2-77FF6F2BF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1338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16EB392-5727-4882-B004-18CC64747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1719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E375C43-BF55-43B3-A0E5-D9D7AD3F3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2100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F8E72EF1-4086-4E8B-ABAA-3D2701949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2481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DDE52B24-0D02-4299-A531-6A912DF3A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162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1024582D-91F9-448F-B642-B6A17D1A9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333625"/>
            <a:ext cx="3619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633"/>
          </a:solidFill>
          <a:ln xmlns:a="http://schemas.openxmlformats.org/drawingml/2006/main" w="0">
            <a:solidFill>
              <a:srgbClr val="0B2633"/>
            </a:solidFill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74B33431-ADD5-4876-83CF-5BD97718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4765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8375F5BC-1D9D-4843-ABFC-AB4264A7A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95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B48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2DCCE72C-8336-484D-B8D1-B53BCEA6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914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B48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C8E86DCF-E9D4-4DB9-B289-1C7DF914B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133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BFFC6BE3-9911-4C6C-952C-FC7FB5B1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3528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B48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1B3A242A-D4A0-4055-BE63-54267CF82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71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B48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A06E75F0-7506-41CC-B1CF-F849DC510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7909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5B92CDC7-9052-480A-ACDE-AF7912B6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010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B48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A28B2001-39B2-41C0-9A27-348609D1A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2291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B48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95C250A1-8397-4BAF-8C2F-65E6DA8B4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448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FF5A2BD9-4D92-448D-BD8D-0AF8806BF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667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B48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2FD0ECD2-540B-4575-ACC9-3EA0AAB2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886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B48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5E957B8A-80E8-4EE5-8178-4D632D93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1054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37181BF4-6224-43B9-B1C0-FB80DCE79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56007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B263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2633"/>
                </a:solidFill>
                <a:latin typeface="Aptos"/>
                <a:ea typeface="Aptos"/>
                <a:cs typeface="Aptos"/>
              </a:rPr>
              <a:t>SIGNAL FILTER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57854300-DEED-447E-9DAD-312505C3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1935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30A659E7-40EA-4CD3-BFFB-473E0DC0A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19350"/>
            <a:ext cx="47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15936B"/>
            </a:solidFill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22BA769A-5D70-44B3-A509-CB847E8AF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193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What has actual buyer or activity signal?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401AA6F7-4AC5-40F6-9E3F-4A839544E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3147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17C9A6C5-0833-43F6-8D6F-0447AC9B3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314700"/>
            <a:ext cx="47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2C7FB8"/>
            </a:solidFill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A4F22F63-3B68-497E-BF4F-6AB36BEB5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3514725"/>
            <a:ext cx="3352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Which route is cheap enough for a first-dollar probe?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7E21BE7F-58FF-41F5-8B6E-B7B89EEE4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1005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E0CD0E48-C8F0-4B4F-BE8D-E3AEF0D8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10050"/>
            <a:ext cx="47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D9942C"/>
            </a:solidFill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E0BC1AFC-A827-4136-BB5A-9E02923E0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005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What routes compose into a workflow instead of a SaaS subscription?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EB724EB0-E899-4DB6-9D91-658CF9E64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01015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F15C74D9-ACD1-49A3-9892-3A1F1773A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010150"/>
            <a:ext cx="47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B43"/>
          </a:solidFill>
          <a:ln xmlns:a="http://schemas.openxmlformats.org/drawingml/2006/main" w="0">
            <a:solidFill>
              <a:srgbClr val="A44B43"/>
            </a:solidFill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01538746-28F5-4CCB-845E-BC840216C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5191125"/>
            <a:ext cx="3333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What should an agent warn on or block before spending?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EC808D9F-BD07-47E9-AC46-A8A11CEE2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48350"/>
            <a:ext cx="160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15936B"/>
            </a:solidFill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E828E894-7E9A-4B1D-BCD5-633B8C47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905500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936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936B"/>
                </a:solidFill>
                <a:latin typeface="Aptos"/>
                <a:ea typeface="Aptos"/>
                <a:cs typeface="Aptos"/>
              </a:rPr>
              <a:t>10B FUTURE ROUTES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0D765698-8B21-47F4-901E-E5D797BE2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84835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0B2633"/>
            </a:solidFill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6BEE59BD-0397-4384-9CAA-D3B0DCB0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90550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B263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2633"/>
                </a:solidFill>
                <a:latin typeface="Aptos"/>
                <a:ea typeface="Aptos"/>
                <a:cs typeface="Aptos"/>
              </a:rPr>
              <a:t>PAY / PROBE / WARN / BLOCK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01F29113-84C6-4571-BDB6-2E0C3541B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86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AE6"/>
          </a:solidFill>
          <a:ln xmlns:a="http://schemas.openxmlformats.org/drawingml/2006/main" w="0">
            <a:solidFill>
              <a:srgbClr val="E4EAE6"/>
            </a:solidFill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1056A67C-05B2-40FE-94B5-DF0A5C752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381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RouteSignal hackathon pitch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381657C3-E278-422F-A2E9-ED42134A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19850"/>
            <a:ext cx="428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026566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2D00C0-825C-432D-B7C8-42338A6AD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936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936B"/>
                </a:solidFill>
                <a:latin typeface="Aptos"/>
                <a:ea typeface="Aptos"/>
                <a:cs typeface="Aptos"/>
              </a:rPr>
              <a:t>WHAT EXISTS TODAY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06EF05-D790-4AA1-94A2-A7A5C8D17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8858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0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The public route surface is already large enough to need analysis.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8B1ACB-C4A8-44C9-9BCD-9086BB214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7429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The first corpus is not complete market truth. It is enough to show the shape of the routing problem.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04AEC4-250E-46EB-A20E-1FA9694A4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936B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936B"/>
                </a:solidFill>
                <a:latin typeface="Aptos"/>
                <a:ea typeface="Aptos"/>
                <a:cs typeface="Aptos"/>
              </a:rPr>
              <a:t>13,517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4DE7AB-EA3B-41F3-A08B-27A564CA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337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route rows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FD7856-4D79-459D-A312-F947C15B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4574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C7FB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C7FB8"/>
                </a:solidFill>
                <a:latin typeface="Aptos"/>
                <a:ea typeface="Aptos"/>
                <a:cs typeface="Aptos"/>
              </a:rPr>
              <a:t>12,857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39EB67-5C9D-4E35-B467-326ED1911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337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distinct routes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5E81CC-B169-42E4-8C1B-11B23710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574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D9942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D9942C"/>
                </a:solidFill>
                <a:latin typeface="Aptos"/>
                <a:ea typeface="Aptos"/>
                <a:cs typeface="Aptos"/>
              </a:rPr>
              <a:t>1,753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2F75F6-F82A-47EA-A803-73D52524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9337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providers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5FBCC1-37A7-4171-9683-12CAA2CFA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574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A44B43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A44B43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D0B103-D253-47C0-870A-B5111345A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9337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networks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6FCA17-2CD2-4E73-BF08-68F70CEB0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47625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922325-6C90-45D1-860B-32C7EAEF1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Network concentration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C614E2-9551-4FBD-B63C-03FAB8FE1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150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Base mainnet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BB04BD-F459-4008-8393-CF4FB6B9E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410075"/>
            <a:ext cx="1257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4D56D1-8041-4737-8B4E-E0474526C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410075"/>
            <a:ext cx="1257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15936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32C6E1-E63C-4C19-92AC-62B690B56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381500"/>
            <a:ext cx="590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12,043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23C5BB-695A-487B-883F-E29EAD066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0535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Solana canonical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8E974F-5584-4C88-B355-E6700971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733925"/>
            <a:ext cx="1257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2DC0CA-790C-42BC-A42F-8EE63B448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733925"/>
            <a:ext cx="64207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2C7FB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2D7A34-8557-4494-9538-76492E3F5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705350"/>
            <a:ext cx="590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615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607879-BA2C-4292-B539-241EEFDA7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2920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Solana mainnet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211367-19E8-4FBB-A3FC-C3EF60F97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057775"/>
            <a:ext cx="1257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3B7AFC-5F0D-4677-BBAB-00775D1F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057775"/>
            <a:ext cx="62536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2C7FB8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DAFEBB-220E-4821-9FDE-7B19CB78B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029200"/>
            <a:ext cx="590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599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FB7AF5-A308-41CC-B363-19D862815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53050"/>
            <a:ext cx="3857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Base dominates the listed surface; the product has to separate ecosystem activity from catalog inflation.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F5513A-2C80-4425-A51A-747EDF7CB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52850"/>
            <a:ext cx="47625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1073B4-E621-4919-9F9A-91512A005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624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Cost calibration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FB37B5-E593-4ECF-A0C5-09CA8DF8E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8150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0.01 USDC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62284EF-307D-4DE1-AA44-C809DB76F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410075"/>
            <a:ext cx="1257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7DEF380-52AD-4BFB-B2A7-B451E3425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410075"/>
            <a:ext cx="1257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15936B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979FF5A-979C-454E-8409-FB3C6BD5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381500"/>
            <a:ext cx="590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3,448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1937A8D-755B-4F55-A6C7-7FBE1D59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70535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0.001 USDC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682BB0-6BD5-4AD8-ACD0-A7E0C4CD0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733925"/>
            <a:ext cx="1257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4CC8A52-B799-4EB8-9877-5297C7868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733925"/>
            <a:ext cx="362458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2C7FB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EE33B2-44F1-44E8-8B22-E53CF3CE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705350"/>
            <a:ext cx="590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994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010D889-EBEA-498E-9942-CC6D6ED9E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02920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0.005 USDC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E6D94D1-8E06-4EE8-85B3-1960DAE4D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057775"/>
            <a:ext cx="1257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4752577-A6BA-4E04-854C-8C04BA928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057775"/>
            <a:ext cx="297916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D9942C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DBA5A6-9E85-406E-BF92-9F6606A9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029200"/>
            <a:ext cx="590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817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098F4E7-672F-408A-8B53-42B582BAD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353050"/>
            <a:ext cx="3857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The useful primitive is the cheap probe: spend pennies, collect a receipt, stop early.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3D0CB0B-F914-4617-A0A8-75443C47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579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995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9959A"/>
                </a:solidFill>
                <a:latin typeface="Aptos"/>
                <a:ea typeface="Aptos"/>
                <a:cs typeface="Aptos"/>
              </a:rPr>
              <a:t>Source: site/public/data/routesdb.json, generated 2026-05-21 from x402scan public route records plus local RouteSignal derived fields.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5856B0C-2A84-4796-AE17-DCED6680B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86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AE6"/>
          </a:solidFill>
          <a:ln xmlns:a="http://schemas.openxmlformats.org/drawingml/2006/main" w="0">
            <a:solidFill>
              <a:srgbClr val="E4EAE6"/>
            </a:solidFill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31104C8-D917-47CA-86CA-D3F415F34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381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RouteSignal hackathon pitch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6A8A5F9-6CF8-470A-A3C6-11E2B3768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19850"/>
            <a:ext cx="428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825221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A53B5F-31C0-4C50-A77C-F83921C94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936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936B"/>
                </a:solidFill>
                <a:latin typeface="Aptos"/>
                <a:ea typeface="Aptos"/>
                <a:cs typeface="Aptos"/>
              </a:rPr>
              <a:t>MARKET SHAPE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E5F73A-6900-4D33-BFBE-6035FBB9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8858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0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The interesting story is not the average route. It is the long tail plus the distortions.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746005-0E72-413C-B781-BDAE2266C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7429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A good agent procurement layer has to show clusters, route farms, niche utilities, and where activity actually appears.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CA4A0A-9ED5-449F-B391-A308052FB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614362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EAE0BC-0FF6-4605-A830-3FA8FE485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Derived route clusters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44FC86-03C0-474D-8D8B-ABF7AD48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Long-tail utilities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FB45DC-03F8-4E49-B8C2-C07AEA5E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133725"/>
            <a:ext cx="2381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395832-40C0-40DC-BBC5-A3D66A6A0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133725"/>
            <a:ext cx="2381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15936B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5F3173-CCF1-4586-A2F4-DF33FF6CB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10515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5,243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F5E804-33FE-4D60-8941-A377BFD00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Onchain market data and wallets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63F9E4-B78E-4501-91B4-19A9B058F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533775"/>
            <a:ext cx="2381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D1F161-E8AD-444D-886C-D7069057A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533775"/>
            <a:ext cx="1678638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2C7FB8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FC2E19-2ADD-44C9-B5F6-9ED4C11F8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5052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3,696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BAF945-CD6C-4A2F-A1B5-D087BDC5D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0525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Route farms and catalog inflation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3DBE6D-5412-4121-AB43-2A280A68E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933825"/>
            <a:ext cx="2381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DCE97D-816A-4839-B35A-0BEE42832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933825"/>
            <a:ext cx="927429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D9942C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BF0263-66F6-49BB-AF5C-A887B672B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90525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2,042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2D55E7-D54D-4CED-929C-8635906AF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0530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External action channels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6880EA-CDE8-4714-A56A-935777C7B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333875"/>
            <a:ext cx="2381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5270F1-533A-4DF5-81B0-ACC2F7461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333875"/>
            <a:ext cx="393317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B43"/>
          </a:solidFill>
          <a:ln xmlns:a="http://schemas.openxmlformats.org/drawingml/2006/main" w="0">
            <a:solidFill>
              <a:srgbClr val="A44B43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E565EB-E443-4812-945F-CBF933C69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3053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866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79827E-B5A5-4F23-8B14-B63C63BBC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0535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Sensitive verification and legal risk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326871-974F-4483-BE3A-871EC5D52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733925"/>
            <a:ext cx="2381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EB4001-9BB3-4B93-85FF-C77B3F7D7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733925"/>
            <a:ext cx="391046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8BA0A8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51FA2F-6E0C-4573-B2F8-B9AF350BB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70535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861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D4C33F-0FFE-4CD0-9B29-C18197C42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62550"/>
            <a:ext cx="5295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This is why a flat table feels bad: the reader sees URLs, not the market. The product has to compress routes into procurement-relevant mental models.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6095BC-403E-4447-AFA0-18B5ECEC2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76500"/>
            <a:ext cx="342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A1F11C-7FF1-4729-8373-BD683040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7650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D9942C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54561B-8839-469B-A703-F870E7A21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667000"/>
            <a:ext cx="2971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9942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9942C"/>
                </a:solidFill>
                <a:latin typeface="Aptos"/>
                <a:ea typeface="Aptos"/>
                <a:cs typeface="Aptos"/>
              </a:rPr>
              <a:t>HIDDEN TENSION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4410D7-DE51-4E4C-A55F-3E7473AD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933700"/>
            <a:ext cx="2971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Counts reward catalog inflation. Agents need evidence, cost, and stop rules.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FFAE24-5496-4AAC-8244-833765AAB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24300"/>
            <a:ext cx="342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6FB773-5C19-4055-9A3E-38730B8D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2430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15936B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88119C8-8D8F-4989-8753-688F4C4C2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114800"/>
            <a:ext cx="2971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936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936B"/>
                </a:solidFill>
                <a:latin typeface="Aptos"/>
                <a:ea typeface="Aptos"/>
                <a:cs typeface="Aptos"/>
              </a:rPr>
              <a:t>USEFUL SURPRISE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4D53C25-17B5-453E-B7B7-9E8BA3E96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381500"/>
            <a:ext cx="2971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The weird long tail is the opportunity: tiny paid capabilities become ingredients.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ACF5CC0-F61B-474A-BE30-8651E8FC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579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995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9959A"/>
                </a:solidFill>
                <a:latin typeface="Aptos"/>
                <a:ea typeface="Aptos"/>
                <a:cs typeface="Aptos"/>
              </a:rPr>
              <a:t>Source: RouteSignal derived cluster fields in site/public/data/routesdb.json.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3325052-F709-4FEC-BA2E-39019A2E6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86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AE6"/>
          </a:solidFill>
          <a:ln xmlns:a="http://schemas.openxmlformats.org/drawingml/2006/main" w="0">
            <a:solidFill>
              <a:srgbClr val="E4EAE6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41C172B-FF07-4B8B-B72A-4E7BEE303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381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RouteSignal hackathon pitch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94EA64-D3E6-4154-A9E0-A179BD2B0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19850"/>
            <a:ext cx="428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550130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0722344-B976-40F1-9D4D-4C5A40E9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936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936B"/>
                </a:solidFill>
                <a:latin typeface="Aptos"/>
                <a:ea typeface="Aptos"/>
                <a:cs typeface="Aptos"/>
              </a:rPr>
              <a:t>THE PRODUCT STATE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14EA45-B985-471E-9DE0-BFF0DCE5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8858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0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RouteSignal converts listings into procurement decisions.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70CFCF-AC38-4FDE-84BD-FF0F8FB4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7429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Every route should answer a next-action question: pay, probe, warn, or block.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F884B3-5B47-4B3E-9D3F-485F8DD61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5745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1DB092-FC4C-422D-A3BA-7C7ED22F7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Verdict split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22018C-C274-4E4A-9DBB-F01BA54ED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PAY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49F5B9-0B47-4447-AF7F-73C4FA63E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190875"/>
            <a:ext cx="1619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95BD44-B7B9-4AA7-9AEE-12BB98B1B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190875"/>
            <a:ext cx="1619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15936B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D17EE7-CEC1-4524-8F80-99988963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162300"/>
            <a:ext cx="552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6,259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430139-18AB-4E78-AC38-32D49EDA8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PROBE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631484-7AB8-4BB4-9BE1-A2C3D215A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667125"/>
            <a:ext cx="1619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2AF1F0-6FB2-41BF-94BD-C2E387AB3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667125"/>
            <a:ext cx="1487309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2C7FB8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F6DFE2-E233-49BC-A642-5EF335620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638550"/>
            <a:ext cx="552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5,749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EE2CB3-FB64-4AEC-854C-30D316D5F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WARN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78A9B5-DFDA-435D-B477-6A2CC90DD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143375"/>
            <a:ext cx="1619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743DBC-70A0-4890-B353-F3174AF4D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143375"/>
            <a:ext cx="210847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D9942C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90DBC5-EBE1-4FC2-8580-3A2A93748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114800"/>
            <a:ext cx="552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815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568D5F-7C7B-4D28-9E63-96D035A24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9105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BLOCK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C1DB14-66A0-4042-B56C-03990FF35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619625"/>
            <a:ext cx="1619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52C903-63EF-4A57-BCCF-16CDD5B59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619625"/>
            <a:ext cx="179543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B43"/>
          </a:solidFill>
          <a:ln xmlns:a="http://schemas.openxmlformats.org/drawingml/2006/main" w="0">
            <a:solidFill>
              <a:srgbClr val="A44B43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E16F44-3001-46EF-8810-15F23C7CA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591050"/>
            <a:ext cx="552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694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9DDA1F-DFD4-480B-9F53-CA8CCF31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457450"/>
            <a:ext cx="48387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89474C-1EFC-4962-8A6F-236C3B62F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8605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Evidence ladder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90CCD6-2720-4F9A-98DD-D105ED58D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432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936B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936B"/>
                </a:solidFill>
                <a:latin typeface="Aptos"/>
                <a:ea typeface="Aptos"/>
                <a:cs typeface="Aptos"/>
              </a:rPr>
              <a:t>11,728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6C6898-2D6E-4D46-8456-2F04679B8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195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metadata complete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FA5B67-BE06-4013-9901-F94A59461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432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C7FB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C7FB8"/>
                </a:solidFill>
                <a:latin typeface="Aptos"/>
                <a:ea typeface="Aptos"/>
                <a:cs typeface="Aptos"/>
              </a:rPr>
              <a:t>279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659694-DD2F-48F9-9301-7D4D3D221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6195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probe candidates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157B68-36DA-4127-BD29-231977095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1432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D9942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D9942C"/>
                </a:solidFill>
                <a:latin typeface="Aptos"/>
                <a:ea typeface="Aptos"/>
                <a:cs typeface="Aptos"/>
              </a:rPr>
              <a:t>88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577D2D-1F18-4ACC-B0DC-9697A264D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6195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activity observed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04A6A1-196A-4485-945E-3D72F43A3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00550"/>
            <a:ext cx="4000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A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208437-1157-4F6D-85B8-2B149A14F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00550"/>
            <a:ext cx="47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B43"/>
          </a:solidFill>
          <a:ln xmlns:a="http://schemas.openxmlformats.org/drawingml/2006/main" w="0">
            <a:solidFill>
              <a:srgbClr val="A44B43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7903784-8161-4EBD-A5AF-CA1B0C55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533900"/>
            <a:ext cx="3505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Caveat: 13,150 routes had no observed activity in the local scrape. That is not failure; it is exactly why signal matters.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A6E47F-70DD-4D68-9EEF-2ED74745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579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995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9959A"/>
                </a:solidFill>
                <a:latin typeface="Aptos"/>
                <a:ea typeface="Aptos"/>
                <a:cs typeface="Aptos"/>
              </a:rPr>
              <a:t>Source: summary.verdicts, summary.evidence_stages, and summary.activity_signals in routesdb.json.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61AB778-4619-4B4E-8EE9-1BDF48290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86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AE6"/>
          </a:solidFill>
          <a:ln xmlns:a="http://schemas.openxmlformats.org/drawingml/2006/main" w="0">
            <a:solidFill>
              <a:srgbClr val="E4EAE6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84FE5CE-673F-465D-9C2E-4810EAD44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381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RouteSignal hackathon pitch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06E0808-9E2C-4AA2-BCB3-FB1262FB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19850"/>
            <a:ext cx="428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264660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26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B83682-41B7-4264-8413-372CBE984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2B48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2B488"/>
                </a:solidFill>
                <a:latin typeface="Aptos"/>
                <a:ea typeface="Aptos"/>
                <a:cs typeface="Aptos"/>
              </a:rPr>
              <a:t>THE WEDGE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06A888-26D5-4E33-91C0-BCCAA8638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8858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00" b="1">
                <a:solidFill>
                  <a:srgbClr val="F3FAF7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F3FAF7"/>
                </a:solidFill>
                <a:latin typeface="Aptos"/>
                <a:ea typeface="Aptos"/>
                <a:cs typeface="Aptos"/>
              </a:rPr>
              <a:t>Composition is where paid routes become interesting.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9AB854-F798-47D1-8258-29EA0428F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7429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B8CAD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B8CAD1"/>
                </a:solidFill>
                <a:latin typeface="Aptos"/>
                <a:ea typeface="Aptos"/>
                <a:cs typeface="Aptos"/>
              </a:rPr>
              <a:t>When every API call can be bought separately, agents can assemble strange workflows from cheap ingredients and stop as soon as the receipt trail is decisive.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38E417-F73C-43AE-937C-D2BFA532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9953625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303D"/>
          </a:solidFill>
          <a:ln xmlns:a="http://schemas.openxmlformats.org/drawingml/2006/main" w="9525">
            <a:solidFill>
              <a:srgbClr val="35535D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8B5F0F-F8F4-42B5-9627-CD4941C18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76550"/>
            <a:ext cx="1619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FAF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3FAF7"/>
                </a:solidFill>
                <a:latin typeface="Aptos"/>
                <a:ea typeface="Aptos"/>
                <a:cs typeface="Aptos"/>
              </a:rPr>
              <a:t>Supplier screener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772E77-16D5-40F2-9E29-C94B325D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838450"/>
            <a:ext cx="723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62B488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CEEA44-A798-410A-8EC7-F6560E24A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24175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7E5E2"/>
                </a:solidFill>
                <a:latin typeface="Aptos"/>
                <a:ea typeface="Aptos"/>
                <a:cs typeface="Aptos"/>
              </a:rPr>
              <a:t>registry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862B60-4175-4AA4-B8E0-DF537B7D2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8956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66DDC9-676E-40D3-A2BA-5C2A9D767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38450"/>
            <a:ext cx="752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62B488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F471FF-00AA-43D8-996E-5CF3B2447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2924175"/>
            <a:ext cx="5810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sanctions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69FAEF-BE80-4352-B7FE-319BCFE9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956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B749A9-D4DE-4148-98B8-A42A647C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838450"/>
            <a:ext cx="723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62B488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E8C93B-3758-4A04-BADE-A1EECBF0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24175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shipment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F8C13F-D037-49E8-A31E-63112C685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956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492165-C9E8-4E53-B046-DCCE0CE40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838450"/>
            <a:ext cx="8858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62B48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BEFB46-F433-416F-8F3A-5C70CECA5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924175"/>
            <a:ext cx="7143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owner graph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0E8488-A5D9-4C93-9B33-251707398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8956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7AD6A1-A25B-44C6-8E31-1C490CB59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38450"/>
            <a:ext cx="723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62B488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3F16E2-E389-460C-8863-968470B09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924175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receipt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3A8E35-5AD2-4A0C-8D2B-7AE15B890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24250"/>
            <a:ext cx="1619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FAF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3FAF7"/>
                </a:solidFill>
                <a:latin typeface="Aptos"/>
                <a:ea typeface="Aptos"/>
                <a:cs typeface="Aptos"/>
              </a:rPr>
              <a:t>Viral claim trace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9BD98A-7B96-43B8-92DE-DBCC52DF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486150"/>
            <a:ext cx="95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2C7FB8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9826F4-4907-47C1-8902-A5686EA1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571875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7E5E2"/>
                </a:solidFill>
                <a:latin typeface="Aptos"/>
                <a:ea typeface="Aptos"/>
                <a:cs typeface="Aptos"/>
              </a:rPr>
              <a:t>claim 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9172AE-EE20-4062-8723-3594206A7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5433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C7FB8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2C7FB8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FF53F3-A797-41B8-96E4-61413892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486150"/>
            <a:ext cx="10191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2C7FB8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7D625D-1266-41F9-8B07-39946E13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571875"/>
            <a:ext cx="8477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reverse image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5CD9BB-737F-4737-9D8B-3CAA9698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5433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C7FB8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2C7FB8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31D46A-5E8A-4DC0-9939-CB2A95598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486150"/>
            <a:ext cx="819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2C7FB8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6F2186-73E2-4C7B-9293-AC22E2FF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57187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fact check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252646-6106-4568-A8B8-BB062F4C9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5433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C7FB8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2C7FB8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5FFEE00-7D2B-4482-B970-3B9E1042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3486150"/>
            <a:ext cx="819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2C7FB8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3B3AFF-F6C9-4F39-853F-AE034C6FB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7187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source age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8BF5452-471B-4E71-985F-BA6C2CEE8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5433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C7FB8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2C7FB8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9973831-B340-40DC-AB3D-89E9D004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3486150"/>
            <a:ext cx="723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2C7FB8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70152F0-956C-4D94-BED9-F7E7B834A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571875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proof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888558F-0923-4C28-B583-0C709B10D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71950"/>
            <a:ext cx="1619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FAF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3FAF7"/>
                </a:solidFill>
                <a:latin typeface="Aptos"/>
                <a:ea typeface="Aptos"/>
                <a:cs typeface="Aptos"/>
              </a:rPr>
              <a:t>Neighborhood check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00F7BDA-954C-48C0-B42E-B35A0E29D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133850"/>
            <a:ext cx="723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D9942C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245D438-94F6-45E2-BD0D-F72869556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19575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7E5E2"/>
                </a:solidFill>
                <a:latin typeface="Aptos"/>
                <a:ea typeface="Aptos"/>
                <a:cs typeface="Aptos"/>
              </a:rPr>
              <a:t>reviews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5F10F63-CB76-4006-A37F-DEBF7221D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41910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9942C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D9942C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F678264-52AA-4666-929A-3156A244A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133850"/>
            <a:ext cx="723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D9942C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FE92B0-5E44-4837-B923-A5FEBB741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4219575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crime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E7783B2-8358-4BB1-AC64-2BF86C638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1910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9942C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D9942C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DE6B86C-943E-4202-97D8-0708324E9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133850"/>
            <a:ext cx="723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D9942C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D9B6D1A-3C3A-4342-8A61-E52C18B5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219575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transit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DAFD550-A437-4359-B28C-FDDACC1F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1910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9942C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D9942C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457844C-0313-47ED-B0DD-28EDF6C18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133850"/>
            <a:ext cx="752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D9942C"/>
            </a:solidFill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06C9B9A-772D-4666-8645-2F43F4A41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4219575"/>
            <a:ext cx="5810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broadband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A960454-B20B-4BFF-A202-A32D457C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1910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9942C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D9942C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F2B6C46-EF6E-43A4-BAAE-435FAE74B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4133850"/>
            <a:ext cx="8858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D9942C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927F704-B750-455F-AB51-50CEDF825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19575"/>
            <a:ext cx="7143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attestation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4CC5159-93BB-44E5-8BCF-3A1CA83DD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19650"/>
            <a:ext cx="1619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FAF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3FAF7"/>
                </a:solidFill>
                <a:latin typeface="Aptos"/>
                <a:ea typeface="Aptos"/>
                <a:cs typeface="Aptos"/>
              </a:rPr>
              <a:t>Wallet diligence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E106983-BD97-4EA3-85DC-0F163302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781550"/>
            <a:ext cx="8858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62B488"/>
            </a:solidFill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0ECF009-55D4-4A0A-A1E3-E442CE51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67275"/>
            <a:ext cx="7143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7E5E2"/>
                </a:solidFill>
                <a:latin typeface="Aptos"/>
                <a:ea typeface="Aptos"/>
                <a:cs typeface="Aptos"/>
              </a:rPr>
              <a:t>wallet risk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BE12676-9D1F-45EF-A514-AE74F66A5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8387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28303C2-8110-4D4B-8F47-5F7D3FAB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781550"/>
            <a:ext cx="10191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62B488"/>
            </a:solidFill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19EE5E5-7614-4AF7-A079-B1CE3FE4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867275"/>
            <a:ext cx="8477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token history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002D0A3-F56C-44DF-A6E6-1D6C0FCE1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48387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625CE7E-C751-4F41-A4CB-295DB1BF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781550"/>
            <a:ext cx="95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62B488"/>
            </a:solidFill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99EE062-60E9-4BB3-BEA0-8A36A7E66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867275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social graph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9D22FD6-6B54-4370-A9C9-A6F90FE9A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48387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799939D-6B26-4920-9CCD-F4088C9C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781550"/>
            <a:ext cx="723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62B488"/>
            </a:solidFill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594A95A-0BA6-4598-AB67-273DA540E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867275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domain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37BC3B8-8F45-49CF-AFCA-8F485BB7A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8387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4784276-2815-4C3E-BB66-74271B05E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81550"/>
            <a:ext cx="723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62B488"/>
            </a:solidFill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052EE5C-FA71-49D8-9393-FA157E925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867275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memo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3330BA9-8F30-4A96-BC79-70E40DF4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800350"/>
            <a:ext cx="2571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35535D"/>
            </a:solidFill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55CB807-601E-433F-955A-4BB859CF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800350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B488"/>
          </a:solidFill>
          <a:ln xmlns:a="http://schemas.openxmlformats.org/drawingml/2006/main" w="0">
            <a:solidFill>
              <a:srgbClr val="62B488"/>
            </a:solidFill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EAB83EC-FB0B-4B81-A4A8-B7801BFA3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908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2B48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2B488"/>
                </a:solidFill>
                <a:latin typeface="Aptos"/>
                <a:ea typeface="Aptos"/>
                <a:cs typeface="Aptos"/>
              </a:rPr>
              <a:t>First-dollar rule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2F0B85B-2560-442E-9DE9-E355C0A4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38500"/>
            <a:ext cx="1981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Start with the cheapest call that can kill the task.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3FC03E6-7299-4231-B62A-2099F9BE1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05250"/>
            <a:ext cx="2571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35535D"/>
            </a:solidFill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3CAA86D-0987-40F2-91DF-09ECC8506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05250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D9942C"/>
            </a:solidFill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1A57CC2-4491-4019-BD1D-DBB529F84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0957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9942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942C"/>
                </a:solidFill>
                <a:latin typeface="Aptos"/>
                <a:ea typeface="Aptos"/>
                <a:cs typeface="Aptos"/>
              </a:rPr>
              <a:t>Stop rule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BA71FEA-FF0A-4D78-A958-C8A28E333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343400"/>
            <a:ext cx="1981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Stop on contradiction, sanctions, reused media, or weak evidence.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4F7EF32-CD38-4DC8-96F4-F51734B61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579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995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9959A"/>
                </a:solidFill>
                <a:latin typeface="Aptos"/>
                <a:ea typeface="Aptos"/>
                <a:cs typeface="Aptos"/>
              </a:rPr>
              <a:t>Recipe costs are illustrative; corpus costs cluster around micro and cheap probe calls, with premium calls reserved for later evidence.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7108FC0-E548-4BF1-97BB-7CF524E31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86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35D"/>
          </a:solidFill>
          <a:ln xmlns:a="http://schemas.openxmlformats.org/drawingml/2006/main" w="0">
            <a:solidFill>
              <a:srgbClr val="35535D"/>
            </a:solidFill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4031AF1-2087-4FAD-9EAA-BA7F7C662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381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8CAD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B8CAD1"/>
                </a:solidFill>
                <a:latin typeface="Aptos"/>
                <a:ea typeface="Aptos"/>
                <a:cs typeface="Aptos"/>
              </a:rPr>
              <a:t>RouteSignal hackathon pitch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53C5819-989C-410B-A52B-0342D51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19850"/>
            <a:ext cx="428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B8CAD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B8CAD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9953185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3D738D4-1C1B-4082-AC5A-62095560D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936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936B"/>
                </a:solidFill>
                <a:latin typeface="Aptos"/>
                <a:ea typeface="Aptos"/>
                <a:cs typeface="Aptos"/>
              </a:rPr>
              <a:t>THE 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352C8E-CBD3-4FE2-8453-FCC42FF7D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8858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0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Three pages make the thesis inspectable.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73D1EE-AA47-4CA3-AEBD-068693E6C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7429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The goal is not to simulate payments. It is to show the field guide, the compression layer, and the composition layer.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A441C5-623C-4666-A64C-922834F4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D72792-960A-495B-B821-AB58FAEE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476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15936B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21291A-F8C3-4152-BE7E-F77172BBC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95600"/>
            <a:ext cx="2381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936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5936B"/>
                </a:solidFill>
                <a:latin typeface="Aptos"/>
                <a:ea typeface="Aptos"/>
                <a:cs typeface="Aptos"/>
              </a:rPr>
              <a:t>RoutesDB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46C671-7BD5-4157-A630-801FD9876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29000"/>
            <a:ext cx="24384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A processable corpus of routes with provider, cost, network, risk, evidence, activity, cluster, and verdict metadata.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8DAC09-F184-4427-9D06-59276671A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14850"/>
            <a:ext cx="2476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759540-8EBF-416E-93FF-9A3EB5333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14850"/>
            <a:ext cx="2000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15936B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B556A7-A7DC-4EA1-828C-25148D1EE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62890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50C7DE-0BC8-42EB-B8EA-86826D34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628900"/>
            <a:ext cx="476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2C7FB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EF082A-FD06-49BC-B95C-6B60DF036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95600"/>
            <a:ext cx="2381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C7FB8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C7FB8"/>
                </a:solidFill>
                <a:latin typeface="Aptos"/>
                <a:ea typeface="Aptos"/>
                <a:cs typeface="Aptos"/>
              </a:rPr>
              <a:t>Analyzer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4F4BE0-4803-44CC-87AD-BFC8FE080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429000"/>
            <a:ext cx="24384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Visual compression: network mix, cost bands, clusters, route farms, active anchors, and evidence gaps.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6559A3-C4E9-4040-AEF8-BA3E6E49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14850"/>
            <a:ext cx="2476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9D16C8-EBC1-4408-A484-0259EC1AC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14850"/>
            <a:ext cx="16002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2C7FB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DE65D0-2661-41F0-A24E-BDDDE706E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62890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DB968B-A8B3-44FB-9A7C-6ACBCC6C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628900"/>
            <a:ext cx="476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D9942C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624637-A074-4A19-BB46-857B5832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95600"/>
            <a:ext cx="2381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9942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D9942C"/>
                </a:solidFill>
                <a:latin typeface="Aptos"/>
                <a:ea typeface="Aptos"/>
                <a:cs typeface="Aptos"/>
              </a:rPr>
              <a:t>Wizard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ABCE0B-63BD-4D82-9812-D7687799A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29000"/>
            <a:ext cx="24384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A recipe lab that turns capabilities into long-tail workflows, first-dollar probes, stop rules, and missing route ideas.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83C52C-0820-470E-976F-3DA1713B7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14850"/>
            <a:ext cx="2476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811D9F-7FBA-4E56-ADCD-03CAAFB41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14850"/>
            <a:ext cx="22669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D9942C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3D22ED-0D2B-4A70-A048-3CB454AEB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381625"/>
            <a:ext cx="533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2633"/>
                </a:solidFill>
                <a:latin typeface="Aptos Mono"/>
                <a:ea typeface="Aptos Mono"/>
                <a:cs typeface="Aptos Mono"/>
              </a:defRPr>
            </a:pPr>
            <a:r>
              <a:rPr sz="2250" b="1">
                <a:solidFill>
                  <a:srgbClr val="0B2633"/>
                </a:solidFill>
                <a:latin typeface="Aptos Mono"/>
                <a:ea typeface="Aptos Mono"/>
                <a:cs typeface="Aptos Mono"/>
              </a:rPr>
              <a:t>data -&gt; signal -&gt; composition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03300D-FB9C-48AA-806E-C3F243825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86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AE6"/>
          </a:solidFill>
          <a:ln xmlns:a="http://schemas.openxmlformats.org/drawingml/2006/main" w="0">
            <a:solidFill>
              <a:srgbClr val="E4EA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B913B9-A6F4-44BE-AFCE-A2D846E8D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381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RouteSignal hackathon pitch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25F2E2-E3A8-4331-B632-5F3792AB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19850"/>
            <a:ext cx="428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404145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26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F0FF78-24DA-4C37-B6C2-EC6EC51C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2B48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2B488"/>
                </a:solidFill>
                <a:latin typeface="Aptos"/>
                <a:ea typeface="Aptos"/>
                <a:cs typeface="Aptos"/>
              </a:rPr>
              <a:t>CLOSING THESIS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B76F4B-1534-40A0-A858-3FD910B8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8858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00" b="1">
                <a:solidFill>
                  <a:srgbClr val="F3FAF7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F3FAF7"/>
                </a:solidFill>
                <a:latin typeface="Aptos"/>
                <a:ea typeface="Aptos"/>
                <a:cs typeface="Aptos"/>
              </a:rPr>
              <a:t>When APIs become per-call ingredients, the product is route intelligence.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03D82B-D14F-4CEA-9518-DA3BF0AC6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7429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B8CAD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B8CAD1"/>
                </a:solidFill>
                <a:latin typeface="Aptos"/>
                <a:ea typeface="Aptos"/>
                <a:cs typeface="Aptos"/>
              </a:rPr>
              <a:t>RouteSignal is the starting field guide: what exists, what has signal, what deserves a probe, and what weird workflows become possible.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820CF7-875E-4D85-80A8-FEF64877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962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35535D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075DEF-0383-440D-A10B-A7476D34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47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B488"/>
          </a:solidFill>
          <a:ln xmlns:a="http://schemas.openxmlformats.org/drawingml/2006/main" w="0">
            <a:solidFill>
              <a:srgbClr val="62B48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47BCC5-6C65-4B97-8DEF-EB92349BF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14625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AF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3FAF7"/>
                </a:solidFill>
                <a:latin typeface="Aptos"/>
                <a:ea typeface="Aptos"/>
                <a:cs typeface="Aptos"/>
              </a:rPr>
              <a:t>What we mapped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99B584-7678-461C-9138-4197FD564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95575"/>
            <a:ext cx="6572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13,517 listed route rows, provider shape, cost bands, networks, clusters, risk flags, verdicts.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0B00B2-41C8-463E-886D-35590FE5B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57550"/>
            <a:ext cx="962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35535D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21C56E-11ED-4EC1-95F5-127BFEE52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57550"/>
            <a:ext cx="47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2C7FB8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FCE60F-2A48-4000-B347-D7DBF2918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19475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AF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3FAF7"/>
                </a:solidFill>
                <a:latin typeface="Aptos"/>
                <a:ea typeface="Aptos"/>
                <a:cs typeface="Aptos"/>
              </a:rPr>
              <a:t>What we explain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51C157-9CA2-41EE-B359-F8CAE511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00425"/>
            <a:ext cx="6572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Why flat route directories are hard to read and why counts alone can mislead agents.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0A29D2-2524-4F44-A937-23C0064E0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962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35535D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618D0A-6F55-469E-B96B-988506752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47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D9942C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838AF5-63B0-4841-8576-320E216D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24325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AF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3FAF7"/>
                </a:solidFill>
                <a:latin typeface="Aptos"/>
                <a:ea typeface="Aptos"/>
                <a:cs typeface="Aptos"/>
              </a:rPr>
              <a:t>What we demonstrate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B8C6E8-FFA7-4170-8411-F3854ED0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105275"/>
            <a:ext cx="6572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A three-page demo that turns the corpus into route analysis and long-tail recipe generation.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9FAECF-596B-4F37-AF20-1D39B9BBD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962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35535D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F961AF-A327-4BB2-B1DC-55A0C4B16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47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B488"/>
          </a:solidFill>
          <a:ln xmlns:a="http://schemas.openxmlformats.org/drawingml/2006/main" w="0">
            <a:solidFill>
              <a:srgbClr val="62B488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379B50-FBFC-41A9-9B36-14F9E0CA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29175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AF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3FAF7"/>
                </a:solidFill>
                <a:latin typeface="Aptos"/>
                <a:ea typeface="Aptos"/>
                <a:cs typeface="Aptos"/>
              </a:rPr>
              <a:t>What comes next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802F91-4AC7-40D7-B3AC-1E11CB6E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10125"/>
            <a:ext cx="6572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Live probes, receipt trails, provider benchmarks, and a real procurement policy for agent wallets.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9C61EF-CC0F-4C08-BB82-0A72B4AD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24500"/>
            <a:ext cx="9620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35D"/>
          </a:solidFill>
          <a:ln xmlns:a="http://schemas.openxmlformats.org/drawingml/2006/main" w="0">
            <a:solidFill>
              <a:srgbClr val="35535D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AA0AFC-6E77-4911-9B2C-BA74E741E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34050"/>
            <a:ext cx="909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3FAF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3FAF7"/>
                </a:solidFill>
                <a:latin typeface="Aptos"/>
                <a:ea typeface="Aptos"/>
                <a:cs typeface="Aptos"/>
              </a:rPr>
              <a:t>Talk track: We mapped the route surface, found the noise, then built the compression and composition layers agents will need when paid APIs become abundant.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F9012A-6C5D-49BE-BFB2-52223179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86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35D"/>
          </a:solidFill>
          <a:ln xmlns:a="http://schemas.openxmlformats.org/drawingml/2006/main" w="0">
            <a:solidFill>
              <a:srgbClr val="35535D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6D71DB-D400-40C0-87F0-C84DAB53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381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8CAD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B8CAD1"/>
                </a:solidFill>
                <a:latin typeface="Aptos"/>
                <a:ea typeface="Aptos"/>
                <a:cs typeface="Aptos"/>
              </a:rPr>
              <a:t>RouteSignal hackathon pitch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DAF718-1841-4142-8AD7-B07A4AC1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19850"/>
            <a:ext cx="428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B8CAD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B8CAD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21633072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2026-05-21T04:16:23.0040000Z</dcterms:created>
  <dcterms:modified xsi:type="dcterms:W3CDTF">2026-05-21T04:16:23.0040000Z</dcterms:modified>
</coreProperties>
</file>