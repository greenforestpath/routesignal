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bbf926a0554509" /><Relationship Type="http://schemas.openxmlformats.org/officeDocument/2006/relationships/extended-properties" Target="/docProps/app.xml" Id="R3b302ef228b54235" /><Relationship Type="http://schemas.openxmlformats.org/officeDocument/2006/relationships/officeDocument" Target="/ppt/presentation.xml" Id="Rba19f95a8c2347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222ea71fce42e7"/>
  </p:sldMasterIdLst>
  <p:notesMasterIdLst>
    <p:notesMasterId xmlns:r="http://schemas.openxmlformats.org/officeDocument/2006/relationships" r:id="R8fa2b2cbf8554eb3"/>
  </p:notesMasterIdLst>
  <p:sldIdLst>
    <p:sldId xmlns:r="http://schemas.openxmlformats.org/officeDocument/2006/relationships" id="256" r:id="R4e5bf58bec5b4b85"/>
    <p:sldId xmlns:r="http://schemas.openxmlformats.org/officeDocument/2006/relationships" id="257" r:id="R645a1469e6b241eb"/>
    <p:sldId xmlns:r="http://schemas.openxmlformats.org/officeDocument/2006/relationships" id="258" r:id="R5eaa6e674d954ff8"/>
    <p:sldId xmlns:r="http://schemas.openxmlformats.org/officeDocument/2006/relationships" id="259" r:id="R308ee16387d14fcc"/>
    <p:sldId xmlns:r="http://schemas.openxmlformats.org/officeDocument/2006/relationships" id="260" r:id="R3029dc1c29014d5c"/>
    <p:sldId xmlns:r="http://schemas.openxmlformats.org/officeDocument/2006/relationships" id="261" r:id="R6505d221c3e64a1f"/>
    <p:sldId xmlns:r="http://schemas.openxmlformats.org/officeDocument/2006/relationships" id="262" r:id="R0c43a11243ce4eb8"/>
    <p:sldId xmlns:r="http://schemas.openxmlformats.org/officeDocument/2006/relationships" id="263" r:id="R6d60651b6d9247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22ea71fce42e7" /><Relationship Type="http://schemas.openxmlformats.org/officeDocument/2006/relationships/theme" Target="/ppt/theme/theme1.xml" Id="Rc4f7ff28bfa34bdc" /><Relationship Type="http://schemas.openxmlformats.org/officeDocument/2006/relationships/notesMaster" Target="/ppt/notesMasters/notesMaster1.xml" Id="R8fa2b2cbf8554eb3" /><Relationship Type="http://schemas.openxmlformats.org/officeDocument/2006/relationships/presProps" Target="/ppt/presProps.xml" Id="Rbfb97fc723154298" /><Relationship Type="http://schemas.openxmlformats.org/officeDocument/2006/relationships/viewProps" Target="/ppt/viewProps.xml" Id="Rec72fafdb9fb4af6" /><Relationship Type="http://schemas.openxmlformats.org/officeDocument/2006/relationships/tableStyles" Target="/ppt/tableStyles.xml" Id="R5696a504517946a6" /><Relationship Type="http://schemas.openxmlformats.org/officeDocument/2006/relationships/slide" Target="/ppt/slides/slide1.xml" Id="R4e5bf58bec5b4b85" /><Relationship Type="http://schemas.openxmlformats.org/officeDocument/2006/relationships/slide" Target="/ppt/slides/slide2.xml" Id="R645a1469e6b241eb" /><Relationship Type="http://schemas.openxmlformats.org/officeDocument/2006/relationships/slide" Target="/ppt/slides/slide3.xml" Id="R5eaa6e674d954ff8" /><Relationship Type="http://schemas.openxmlformats.org/officeDocument/2006/relationships/slide" Target="/ppt/slides/slide4.xml" Id="R308ee16387d14fcc" /><Relationship Type="http://schemas.openxmlformats.org/officeDocument/2006/relationships/slide" Target="/ppt/slides/slide5.xml" Id="R3029dc1c29014d5c" /><Relationship Type="http://schemas.openxmlformats.org/officeDocument/2006/relationships/slide" Target="/ppt/slides/slide6.xml" Id="R6505d221c3e64a1f" /><Relationship Type="http://schemas.openxmlformats.org/officeDocument/2006/relationships/slide" Target="/ppt/slides/slide7.xml" Id="R0c43a11243ce4eb8" /><Relationship Type="http://schemas.openxmlformats.org/officeDocument/2006/relationships/slide" Target="/ppt/slides/slide8.xml" Id="R6d60651b6d9247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e12d1cebc8143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cebb8a5d814138" /><Relationship Type="http://schemas.openxmlformats.org/officeDocument/2006/relationships/notesMaster" Target="/ppt/notesMasters/notesMaster1.xml" Id="R24c7d0ed16624a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c5c2c369614bbc" /><Relationship Type="http://schemas.openxmlformats.org/officeDocument/2006/relationships/notesMaster" Target="/ppt/notesMasters/notesMaster1.xml" Id="R123bf619f5b24d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ec46ec9f4142ad" /><Relationship Type="http://schemas.openxmlformats.org/officeDocument/2006/relationships/notesMaster" Target="/ppt/notesMasters/notesMaster1.xml" Id="R4cadea8ca4504c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e562a51f7e405a" /><Relationship Type="http://schemas.openxmlformats.org/officeDocument/2006/relationships/notesMaster" Target="/ppt/notesMasters/notesMaster1.xml" Id="Rda8af1069a794e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1fbfd6afd1472f" /><Relationship Type="http://schemas.openxmlformats.org/officeDocument/2006/relationships/notesMaster" Target="/ppt/notesMasters/notesMaster1.xml" Id="Rf10fd2a7a57f4b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5135c63a474ba7" /><Relationship Type="http://schemas.openxmlformats.org/officeDocument/2006/relationships/notesMaster" Target="/ppt/notesMasters/notesMaster1.xml" Id="Ra727d767778a42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f20c38058643ac" /><Relationship Type="http://schemas.openxmlformats.org/officeDocument/2006/relationships/notesMaster" Target="/ppt/notesMasters/notesMaster1.xml" Id="R6fc54699633240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34e9abdebe4805" /><Relationship Type="http://schemas.openxmlformats.org/officeDocument/2006/relationships/notesMaster" Target="/ppt/notesMasters/notesMaster1.xml" Id="R513635f5947548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1945958414d4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86dea5d24944ee0" /><Relationship Type="http://schemas.openxmlformats.org/officeDocument/2006/relationships/slideLayout" Target="/ppt/slideLayouts/slideLayout2.xml" Id="R86c7e4352b0c48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c7e4352b0c48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719f36c8904d79" /><Relationship Type="http://schemas.openxmlformats.org/officeDocument/2006/relationships/image" Target="/ppt/media/image.png" Id="Rcc6c790de01c4ebb" /><Relationship Type="http://schemas.openxmlformats.org/officeDocument/2006/relationships/notesSlide" Target="/ppt/notesSlides/notesSlide1.xml" Id="Rce5a7ccfeb7e48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ac02eace6e4e51" /><Relationship Type="http://schemas.openxmlformats.org/officeDocument/2006/relationships/notesSlide" Target="/ppt/notesSlides/notesSlide2.xml" Id="Rdc4ebd9536ee4a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0ef22566d24618" /><Relationship Type="http://schemas.openxmlformats.org/officeDocument/2006/relationships/notesSlide" Target="/ppt/notesSlides/notesSlide3.xml" Id="R4f53f5391b2847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fc8734ff464c9b" /><Relationship Type="http://schemas.openxmlformats.org/officeDocument/2006/relationships/notesSlide" Target="/ppt/notesSlides/notesSlide4.xml" Id="R33472e401bc849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129af2d14e4189" /><Relationship Type="http://schemas.openxmlformats.org/officeDocument/2006/relationships/notesSlide" Target="/ppt/notesSlides/notesSlide5.xml" Id="R791495650f6a41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b477e857444c45" /><Relationship Type="http://schemas.openxmlformats.org/officeDocument/2006/relationships/notesSlide" Target="/ppt/notesSlides/notesSlide6.xml" Id="R75a31fcd21b041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2e3056a66441c6" /><Relationship Type="http://schemas.openxmlformats.org/officeDocument/2006/relationships/notesSlide" Target="/ppt/notesSlides/notesSlide7.xml" Id="R2be8bc1ee00346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ce65517b96423b" /><Relationship Type="http://schemas.openxmlformats.org/officeDocument/2006/relationships/notesSlide" Target="/ppt/notesSlides/notesSlide8.xml" Id="R65600276d46948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c790de01c4ebb"/>
          <a:srcRect xmlns:a="http://schemas.openxmlformats.org/drawingml/2006/main" l="23814" t="0" r="238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9F585-2ADF-4C17-9D32-C6551B83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0"/>
            <a:ext cx="838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4AD42-2FAB-43B0-AE53-FB0934FB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15936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03A7A-FFF8-4B2E-8165-87E7DE17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93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936B"/>
                </a:solidFill>
                <a:latin typeface="Aptos"/>
                <a:ea typeface="Aptos"/>
                <a:cs typeface="Aptos"/>
              </a:rPr>
              <a:t>HACKATHON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87D24-2629-4EB7-871E-603A56B2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476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RouteSignal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81FC1-05D1-4299-AD83-3FA4722E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495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B26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633"/>
                </a:solidFill>
                <a:latin typeface="Aptos"/>
                <a:ea typeface="Aptos"/>
                <a:cs typeface="Aptos"/>
              </a:rPr>
              <a:t>A field guide to the long tail of paid API routes for agents.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50A71-7C03-4437-8D91-459148AC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476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If agents can buy one API call at a time, the hard problem becomes routing: what exists, what has signal, what should be probed, and what can be composed.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AFB88-F926-48E1-B363-84EF2CC0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936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936B"/>
                </a:solidFill>
                <a:latin typeface="Aptos"/>
                <a:ea typeface="Aptos"/>
                <a:cs typeface="Aptos"/>
              </a:rPr>
              <a:t>13,517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35C5A-28D0-4B5B-A736-462D32FC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route rows in local corpus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EF852-D542-4001-8A44-5248D251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863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C7FB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C7FB8"/>
                </a:solidFill>
                <a:latin typeface="Aptos"/>
                <a:ea typeface="Aptos"/>
                <a:cs typeface="Aptos"/>
              </a:rPr>
              <a:t>1,753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3BAF3-F2BD-460D-8CF1-C6F3A49D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197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providers mapped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1CE34-0E1B-4077-A7CE-8739272B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863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9942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D9942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13B7F-7A79-4B73-833E-2D02263C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197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derived verdict 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E7C53-7021-4FEE-BC07-EF888CDA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6"/>
          </a:solidFill>
          <a:ln xmlns:a="http://schemas.openxmlformats.org/drawingml/2006/main" w="0">
            <a:solidFill>
              <a:srgbClr val="E4EA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727FF-1A6F-41CA-A81B-34041B05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RouteSignal hackathon pitch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029115-A92A-47CA-A6C7-D7B70AE7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869897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01A8C0-45C8-48A4-A176-16BFB126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93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936B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9EDE0-6E2D-4C3C-ADC4-C8326181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885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A route explosion turns API discovery into procurement.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694AA-6AD6-49BD-B6BD-CC69B7CE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429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The future is not a better directory. It is agents deciding which tiny paid capability deserves the next dollar.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CCCC7-98EE-40A1-BDA9-F7E38E0D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BE149-6B22-4EF4-8B1A-82F6811E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52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A364C-C948-4413-97A0-25AEF1F3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90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EAD16-3C6C-4DF8-AD4D-6513F488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28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210D6-872D-41A4-BE0C-CA821E43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43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58868-5302-4CC5-92D4-7459FA69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81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D3EC2-E378-4DE7-91BA-8A681099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B9F56-5612-4B09-9A4C-BEE3AE5C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33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7DEC2-2B33-4252-B772-2126CD21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667C4-0B42-4DDC-8E4B-44616FED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09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35FCC-3674-4E30-997F-D89C6098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33C949-91DE-4B58-9171-2A76A3F4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62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64E149-00F5-4AD6-AE36-194842E4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00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0AB8E-1384-4D6A-8B5E-AC96E102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14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0FF8F8-33CD-454B-8236-1FF06D56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52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0FBDF9-D71C-4A55-9C1A-3DD26128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90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9A203A-FBAA-40DC-A51E-CBF02D07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108C2B-88C3-4BF3-88FA-8278B249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67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E40863-2343-487C-BF82-ED4D55A3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5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FCFC23-8D0B-4E6B-A834-64E399C8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1A7EA4-BC12-45EB-9448-0DBD5FBE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57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C8849D-1882-4503-9419-E7E4626B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895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B85398-C0DE-41F9-85A6-AEE91AB0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33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C1DAF3-E546-416A-BD4B-C62C7196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47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5BFB04-2CEB-4D99-B79A-1AAE1DE3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86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FC9620-6022-4A3B-85E8-7857249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24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662781-B00F-47E3-BF3F-FBEF281A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38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0FD765-0CEA-469F-8EFC-C4DC05F3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76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14E17C-6E27-49D1-86F5-4F49ACA3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AC04DA-74E5-4F34-AC46-16F851CE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952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5DD8AC-D501-410C-93B6-1A4B803C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67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C337EE-3812-4EE2-AB37-6161735A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05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E4733D-0D02-44E2-AA91-657EF26D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67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3D29C9-B7B6-4E46-8AB2-6694FEE1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81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58D860-63BF-4D25-84DF-F68B9CA3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19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473D82-E4C7-4DF4-AAD4-288222DD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9C39D5-49C3-4809-8102-6799E16E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446442-C545-4AA2-B594-E29FA045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09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4E46F5-C1E7-4C02-9F11-57C20E7B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2B247C-BC14-4180-A374-D46CAE51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162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90F9EF-73D2-4DAE-9291-68EB81E3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00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5C3CF0-8AB4-4D38-9A87-64602BF8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38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20F6A6-4304-46F8-B147-96D1B191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76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47BC84-7F2E-4341-A113-47AD6093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190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4DF6CB-0847-4C4D-9118-8FC75651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28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C81CE5-150C-47CF-840E-AEB2C2FF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67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6755B59-647A-4D77-B57B-302F4E35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81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CC7C79-0B74-491B-8828-6C91C801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19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E9C3ABB-5FD4-4BA9-9F10-4283F7F5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D9A536-2710-4EDC-891E-FADA405B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95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C6B287-DE61-457B-ADE2-422BB7B1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33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A85F8E-4A18-4009-8F29-D76CA21A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71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CC33DD-FEDA-45D3-906A-D6FB0692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F5F78EC-C987-436D-A10A-09511EFE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524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56F1086-BB37-409C-AEB1-FBA5F663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62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CBE87D6-47C1-444F-B60D-72EB2917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DEF5A72-CF98-46F6-BDAA-28F8B530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14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0404262-AB46-4B3C-AC35-AF05F81E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52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0E6364C-B64E-4208-8360-E839DAB1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90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E9C9B4C-7A31-4921-BF34-069FE72A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05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EDC9890-6EF8-4C71-A95C-97632031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43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AEA44A1-1814-4DDD-9CEE-A0EAADB1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581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91B525D-AE0B-4265-A181-79D969CB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95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5964636-8C49-4F6E-BACC-EC7C7200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33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1944D15-D155-4B07-97C0-F7794897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27E6984-B3E5-42CC-886F-0AC43631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BCD28D7-2479-4D28-82DD-DF63EF22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A19CDFC-400C-4264-A117-0890E191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86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BB58FD4-519E-4C34-9707-1CD88D98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24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2042D84-92C3-43B4-9155-AF9287AE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38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AE6C8C0-7FB0-4635-A1DF-05E4D444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76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0B378FA-EBC9-4ACD-8961-29D51D5D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14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D9CC666-682F-4DCE-B2F1-F903B337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5F9CC1A-669B-498B-B9D9-E9F20695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67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A0720FE-123A-4128-B5EA-B5789FEA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05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84E2B06-071D-4A43-9F12-89B5C9C9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19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6E07B93-01B9-4A95-B60A-B6276FBB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57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9C94E6D-5617-4414-8CEA-9F9A0D9F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95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12222B9-BA84-4E58-AD84-756E4E2D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10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EAE3CDA-816C-4D86-89D6-151FB604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48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FEFE6D-58FB-433D-99C4-8A9694EF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8044F71-B78D-48EA-86A1-92DE62F0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48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E510E26-272B-42C7-9B62-C11EDDF9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62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FB21433-BFDF-4F55-8DAA-E0CB7D92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0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CDE37C6-B7EB-4FB2-AAFA-D5BA132A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38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EA1D609-9E30-4D02-8675-01A4CA76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5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301E1C1-1486-4B72-8F1A-5A62B6D4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91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69C1C3E-A6C0-4E28-9563-61C4B693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22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BA3928F-D0B4-4983-8CAC-3EB87EE7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43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1F30BF5-DECF-4A2A-83A9-05685DC1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81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1599CE3-5F3F-4ACA-A2E5-E9D28EC9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1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948DFE4-54D1-47C0-A928-47326EAF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33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7BB0E95-F080-4E78-950D-8732EBFA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A5C2125-D24A-490A-AB3A-FB5ABE80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21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406CC5A-2C92-4F37-9CFD-BEB9A65F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48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CEA6C5A-7CE6-4DE8-96B3-6470DB32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62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2EC6AF8-3627-430E-8B5C-6809744A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33625"/>
            <a:ext cx="3619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633"/>
          </a:solidFill>
          <a:ln xmlns:a="http://schemas.openxmlformats.org/drawingml/2006/main" w="0">
            <a:solidFill>
              <a:srgbClr val="0B2633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05A6A0B-6478-47C0-A60B-45EDFA39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76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A6731AB-40EC-4355-91B3-63668C00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95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25FBF02-CA5F-44CE-AC5F-9B0DAE95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3C79B0F-96D6-46D0-9557-C32D8981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33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19DFEF7-92F8-4ACA-9664-27378C72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52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916A460-49FB-4B79-A220-A6C55AD7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71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88AF906-F69E-41C5-A6CC-21F2F79C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90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B5DD9B3-AB71-4EB7-AB2B-096287C0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10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CC21638-B272-4C38-9BB2-70B28CC3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2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9BB0BCC-D4E9-4FB4-9D36-A33575C8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48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481A0AE-2624-4CB8-89FA-E6EEE435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67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CCEA27A-89D3-4368-8088-1CA8D996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886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CFCD77C-FA62-48CC-A53C-FABB7133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05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56672AB-E13F-4A93-87EC-8BD9B087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6007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26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2633"/>
                </a:solidFill>
                <a:latin typeface="Aptos"/>
                <a:ea typeface="Aptos"/>
                <a:cs typeface="Aptos"/>
              </a:rPr>
              <a:t>SIGNAL FILTER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62CC726-6D97-47B8-8C5B-FC464FDF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E6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CA2207D-472F-413A-98F4-5721AB88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15936B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CE356FF-7908-4C53-AC34-4A6236AF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193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What has actual buyer or activity signal?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DF833CE-DADD-4E7A-AC27-C306305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147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E6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C9509E1-D782-4DE0-9AB1-ABA7D855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147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2C7FB8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E774A4C-84B4-4475-B413-A5D8694A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514725"/>
            <a:ext cx="335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Which route is cheap enough for a first-dollar probe?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C16A8ED-1991-404E-8F63-DEB87D43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1005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E6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8680AF2-CB7F-461E-9122-444095D9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100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D9942C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940FC6D-21BC-4BE3-9865-E27A2C97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005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What routes compose into a workflow instead of a SaaS subscription?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271C0F0-A766-481D-88CF-0B118B85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101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E6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F270FD8-8119-4225-8F1B-2D5B3496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1015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B43"/>
          </a:solidFill>
          <a:ln xmlns:a="http://schemas.openxmlformats.org/drawingml/2006/main" w="0">
            <a:solidFill>
              <a:srgbClr val="A44B43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74942AA-14C2-4B44-8AF3-C214B156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19112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What should an agent warn on or block before spending?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ADF5ADE-A429-4FB6-9311-6EB0A96C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4835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15936B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B41F193-7B2D-48EA-AC0B-4E60FA9E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055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93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936B"/>
                </a:solidFill>
                <a:latin typeface="Aptos"/>
                <a:ea typeface="Aptos"/>
                <a:cs typeface="Aptos"/>
              </a:rPr>
              <a:t>10B FUTURE ROUTES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0344787-43B0-4A8F-9389-8C46747A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483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0B2633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0C6F088-20DD-43FF-BC90-DF745B20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905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26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2633"/>
                </a:solidFill>
                <a:latin typeface="Aptos"/>
                <a:ea typeface="Aptos"/>
                <a:cs typeface="Aptos"/>
              </a:rPr>
              <a:t>PAY / PROBE / WARN / BLOCK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2DA8180-EBD8-4D3B-B774-FBFA7DC6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6"/>
          </a:solidFill>
          <a:ln xmlns:a="http://schemas.openxmlformats.org/drawingml/2006/main" w="0">
            <a:solidFill>
              <a:srgbClr val="E4EAE6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90D75B4-3043-4E89-B419-1911C67E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RouteSignal hackathon pitch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FC06E05-D6CE-46BE-9768-030C7411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705561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1A2612-8F21-4883-8A8B-70E66556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93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936B"/>
                </a:solidFill>
                <a:latin typeface="Aptos"/>
                <a:ea typeface="Aptos"/>
                <a:cs typeface="Aptos"/>
              </a:rPr>
              <a:t>WHAT EXISTS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A79C7-F133-44A8-9451-B9E2A2C1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885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The public route surface is already large enough to need analysis.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94086-CB33-4804-BB20-173A3FFD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429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The first corpus is not complete market truth. It is enough to show the shape of the routing problem.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6CC76-0A73-4079-B3C0-F01B1914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936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936B"/>
                </a:solidFill>
                <a:latin typeface="Aptos"/>
                <a:ea typeface="Aptos"/>
                <a:cs typeface="Aptos"/>
              </a:rPr>
              <a:t>13,517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5047D-06A6-4F97-A046-68C55EBA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route rows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92B78-AF86-4BEF-B060-6CFA4A29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574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C7FB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C7FB8"/>
                </a:solidFill>
                <a:latin typeface="Aptos"/>
                <a:ea typeface="Aptos"/>
                <a:cs typeface="Aptos"/>
              </a:rPr>
              <a:t>12,857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674F9-0D58-4BA6-9B29-3CBDD324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908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distinct routes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09F47-449E-493D-86F5-646828F4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574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9942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D9942C"/>
                </a:solidFill>
                <a:latin typeface="Aptos"/>
                <a:ea typeface="Aptos"/>
                <a:cs typeface="Aptos"/>
              </a:rPr>
              <a:t>1,753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9D9EF-7224-4D01-9981-CC79EA38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908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providers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8491C-FC2C-4BC4-9D4E-BCFF8C57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574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44B4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A44B43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FC74F-BE66-44DC-97D3-27195DE2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908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networks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F95E4-089D-404C-BB85-863918F8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762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26793-3611-4D99-9714-5B5CC7CA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Network concentration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9D023-9795-4894-9174-3C6DA89B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2A"/>
                </a:solidFill>
                <a:latin typeface="Aptos"/>
                <a:ea typeface="Aptos"/>
                <a:cs typeface="Aptos"/>
              </a:rPr>
              <a:t>Base mainnet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59B45-EDBA-4A27-A4C9-9763A3DC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10075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FD10DA-6294-4A1C-A91F-38EC7253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10075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15936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907B38-5031-4247-B2FB-57E22B9E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8150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12,043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AE6051-582B-4FC0-9013-45937DB5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2A"/>
                </a:solidFill>
                <a:latin typeface="Aptos"/>
                <a:ea typeface="Aptos"/>
                <a:cs typeface="Aptos"/>
              </a:rPr>
              <a:t>Solana canonical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BCC9B-5F0F-4D9D-905C-89F0DA32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33925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23DA8-38C2-4B87-86E7-BF7848F0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33925"/>
            <a:ext cx="6420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2C7FB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89E50-3023-45E8-9456-26BAE314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053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615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6597DE-FD43-42BB-BD45-09A266EA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2A"/>
                </a:solidFill>
                <a:latin typeface="Aptos"/>
                <a:ea typeface="Aptos"/>
                <a:cs typeface="Aptos"/>
              </a:rPr>
              <a:t>Solana mainnet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C5CC2A-7B30-4116-BFE1-0667FF50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057775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C12B81-A712-4BDF-8B55-99872CA5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057775"/>
            <a:ext cx="6253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2C7FB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1D3979-892F-4BF3-958E-83CA0725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2920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599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307C7B-477C-4F56-8ECC-85BC36C2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385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Base dominates the listed surface; the product has to separate ecosystem activity from catalog inflation.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B484E7-81BC-433F-8FC6-36E94D68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52850"/>
            <a:ext cx="4762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847438-CEB3-4E70-BE30-91DDEE09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62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Cost calibration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B0C01D-62AC-4A42-9DC7-6D2BE1A4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815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2A"/>
                </a:solidFill>
                <a:latin typeface="Aptos"/>
                <a:ea typeface="Aptos"/>
                <a:cs typeface="Aptos"/>
              </a:rPr>
              <a:t>0.01 USDC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38BCC7-D01D-4CD1-B920-92B4E323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10075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13504A-4535-46BB-92D8-3B20F060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10075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15936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E7F031-94E1-4293-8BC0-12692313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38150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3,448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24B660-E551-4B0A-B731-5B000531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2A"/>
                </a:solidFill>
                <a:latin typeface="Aptos"/>
                <a:ea typeface="Aptos"/>
                <a:cs typeface="Aptos"/>
              </a:rPr>
              <a:t>0.001 USDC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3A6BF1-0ADA-43A8-AA8B-BE5C024B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33925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B1C8DF-15FE-4279-8731-EC87C4A8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33925"/>
            <a:ext cx="36245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2C7FB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65F3F8-3EBA-4FF9-87F6-D2D39BB3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053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994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F74D7B-A2BE-4F54-AD38-1E447AF2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292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2A"/>
                </a:solidFill>
                <a:latin typeface="Aptos"/>
                <a:ea typeface="Aptos"/>
                <a:cs typeface="Aptos"/>
              </a:rPr>
              <a:t>0.005 USDC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EE79E9-8E19-4596-A568-37F6333E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57775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393702-E1A0-460D-97D9-7185A60C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57775"/>
            <a:ext cx="29791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D9942C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4D3756-0BBF-445E-B6F0-E99443CE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02920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817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63B60E-101F-4E0F-B1C5-2A4CCA2E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19700"/>
            <a:ext cx="385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The useful primitive is the cheap probe: spend pennies, collect a receipt, stop early.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A4712E-0B07-48BF-BC0A-E4548E5F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995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9959A"/>
                </a:solidFill>
                <a:latin typeface="Aptos"/>
                <a:ea typeface="Aptos"/>
                <a:cs typeface="Aptos"/>
              </a:rPr>
              <a:t>Source: site/public/data/routesdb.json, generated 2026-05-21 from x402scan public route records plus local RouteSignal derived fields.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3F3A6B-FBFF-47E5-871C-00D70E62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6"/>
          </a:solidFill>
          <a:ln xmlns:a="http://schemas.openxmlformats.org/drawingml/2006/main" w="0">
            <a:solidFill>
              <a:srgbClr val="E4EAE6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EF95D8-D98B-4E49-9B1B-75658F48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RouteSignal hackathon pitch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E321AC-F676-4D91-8476-FA0F200F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299484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57CAA7-21D2-4036-8FC3-5A648A08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93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936B"/>
                </a:solidFill>
                <a:latin typeface="Aptos"/>
                <a:ea typeface="Aptos"/>
                <a:cs typeface="Aptos"/>
              </a:rPr>
              <a:t>MARKET 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495BF-2696-4B1F-A5CC-98981056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885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The interesting story is not the average route. It is the long tail plus the distortions.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5BE5B-7C5F-4F5D-8420-D4DFECE7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429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A good agent procurement layer has to show clusters, route farms, niche utilities, and where activity actually appears.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B0130-9DE5-4885-A03D-DC9E86D3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61436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E7449-D789-4297-896F-E29D33F4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Derived route clusters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01BC0-E55E-4FEA-A51F-F7DBF022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Long-tail utilities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5B342-FB4D-4346-ACC2-457796C7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33725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46C0C-06D7-4D46-89B5-4BE01C23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33725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1593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EB312-20FB-47BD-A1E8-FAE08E5F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051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5,243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8808E-1C4A-4C0F-BFE6-D53E0532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2A"/>
                </a:solidFill>
                <a:latin typeface="Aptos"/>
                <a:ea typeface="Aptos"/>
                <a:cs typeface="Aptos"/>
              </a:rPr>
              <a:t>Onchain market data and wallets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89AAB-A682-47C5-97FA-9C04E12B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33775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902A1-CF38-426B-88CA-301A70ED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33775"/>
            <a:ext cx="16786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2C7FB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F5C23-1A0D-485F-B771-27006488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052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3,696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3A71F-40B9-4875-A757-A5E57758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2A"/>
                </a:solidFill>
                <a:latin typeface="Aptos"/>
                <a:ea typeface="Aptos"/>
                <a:cs typeface="Aptos"/>
              </a:rPr>
              <a:t>Route farms and catalog inflation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721D0-6C0C-4B5C-9574-CEE94325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33825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FD577-CEB7-4FDA-A460-04B16DCE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33825"/>
            <a:ext cx="92742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D994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097DC4-BB34-45BA-A120-24AE1B97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052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2,042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CDC870-5F6B-43E1-8ECB-776601D1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2A"/>
                </a:solidFill>
                <a:latin typeface="Aptos"/>
                <a:ea typeface="Aptos"/>
                <a:cs typeface="Aptos"/>
              </a:rPr>
              <a:t>External action channels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A28A16-5B6D-4D77-9339-F859EA61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33875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8F21BE-C7CF-42A1-8129-F22D682C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33875"/>
            <a:ext cx="39331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B43"/>
          </a:solidFill>
          <a:ln xmlns:a="http://schemas.openxmlformats.org/drawingml/2006/main" w="0">
            <a:solidFill>
              <a:srgbClr val="A44B4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11FEAB-606C-40AD-9503-DD647983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3053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866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B44175-8D31-4B41-91AD-9FAFE519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2A"/>
                </a:solidFill>
                <a:latin typeface="Aptos"/>
                <a:ea typeface="Aptos"/>
                <a:cs typeface="Aptos"/>
              </a:rPr>
              <a:t>Sensitive verification and legal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D3681-7323-4A40-9FEE-135FB7BF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33925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043DB0-D6D2-417C-9A44-66CEE2E0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33925"/>
            <a:ext cx="39104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0A8"/>
          </a:solidFill>
          <a:ln xmlns:a="http://schemas.openxmlformats.org/drawingml/2006/main" w="0">
            <a:solidFill>
              <a:srgbClr val="8BA0A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FA58A0-7E4F-482B-802A-64174D58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053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861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BFB4E1-73C9-4E48-8612-55824874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529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This is why a flat table feels bad: the reader sees URLs, not the market. The product has to compress routes into procurement-relevant mental models.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E93250-D8AA-4C14-8B6D-7C6F99C2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342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9B5923-66BD-4C5A-A03F-460568B5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D9942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45FFC0-D812-4B1E-BF4A-409C6020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67000"/>
            <a:ext cx="2971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94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42C"/>
                </a:solidFill>
                <a:latin typeface="Aptos"/>
                <a:ea typeface="Aptos"/>
                <a:cs typeface="Aptos"/>
              </a:rPr>
              <a:t>HIDDEN TENSION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ECACF1-2E6A-4351-9035-2534C2EC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33700"/>
            <a:ext cx="2971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Counts reward catalog inflation. Agents need evidence, cost, and stop rules.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97D8A6-8FD6-48E7-893C-C8071FBC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24300"/>
            <a:ext cx="342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E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040E11-A322-4A5F-964C-97140305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243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15936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65C8B0-E5BD-46E0-BB9B-2E664337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14800"/>
            <a:ext cx="2971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3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936B"/>
                </a:solidFill>
                <a:latin typeface="Aptos"/>
                <a:ea typeface="Aptos"/>
                <a:cs typeface="Aptos"/>
              </a:rPr>
              <a:t>USEFUL SURPRISE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D7B1BE-5D65-4877-A136-5FF6C20F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381500"/>
            <a:ext cx="2971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The weird long tail is the opportunity: tiny paid capabilities become ingredients.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CA9A72-6B12-4E24-855F-D5904CCD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995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9959A"/>
                </a:solidFill>
                <a:latin typeface="Aptos"/>
                <a:ea typeface="Aptos"/>
                <a:cs typeface="Aptos"/>
              </a:rPr>
              <a:t>Source: RouteSignal derived cluster fields in site/public/data/routesdb.json.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DBE073-EC88-44D8-93E0-F1B61635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6"/>
          </a:solidFill>
          <a:ln xmlns:a="http://schemas.openxmlformats.org/drawingml/2006/main" w="0">
            <a:solidFill>
              <a:srgbClr val="E4EAE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84F99C-88CD-4C72-9892-6D0B4389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RouteSignal hackathon pitch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875F63-A4E6-42EA-A0ED-C1E41D60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80179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614546-4F3B-4BF2-B02F-9F87EC52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93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936B"/>
                </a:solidFill>
                <a:latin typeface="Aptos"/>
                <a:ea typeface="Aptos"/>
                <a:cs typeface="Aptos"/>
              </a:rPr>
              <a:t>THE PRODUCT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3AAE4-A1A6-4327-AB78-E6BC83A3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885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RouteSignal converts listings into procurement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9D536-A700-415F-AEA6-0FFFAD81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429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Every route should answer a next-action question: pay, probe, warn, or block.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0C3D8-7638-464F-AB7B-B7CA9BE8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44063-C224-4A28-80AA-B3AFEBF6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Verdict split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9FF4D-A48A-4A77-8083-CC84B18E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PAY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BAE73-BEB1-47CA-BDE0-E0879377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90875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7D9F9-1557-48BA-BE8A-3207A672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90875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1593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1DAD4-15B7-4802-BB62-39228CC5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623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6,259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BAB80-637A-490B-AAAC-B0775A2E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PROBE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F6EB4-8698-4661-95B2-C59F7D5C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67125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B4EFE-D4F7-4C4F-A422-924F6601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67125"/>
            <a:ext cx="148730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2C7FB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E7DDB6-34F7-4720-834B-B70DD488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385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5,749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150046-A2C8-48BA-9F52-FE079999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2A"/>
                </a:solidFill>
                <a:latin typeface="Aptos"/>
                <a:ea typeface="Aptos"/>
                <a:cs typeface="Aptos"/>
              </a:rPr>
              <a:t>WARN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B9282-9424-418C-99A4-D4D5DFDD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43375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BF7090-3C14-4A96-846A-F3A9116E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43375"/>
            <a:ext cx="21084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D994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90561-C4B9-486F-B744-12DF2BAC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148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815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E3D81-56AE-486E-B31A-A1668F56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2A"/>
                </a:solidFill>
                <a:latin typeface="Aptos"/>
                <a:ea typeface="Aptos"/>
                <a:cs typeface="Aptos"/>
              </a:rPr>
              <a:t>BLOCK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A3F500-5776-450A-B8AC-A3927AC6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19625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3DF9F-6857-4F3B-8AA9-027E1F94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19625"/>
            <a:ext cx="17954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B43"/>
          </a:solidFill>
          <a:ln xmlns:a="http://schemas.openxmlformats.org/drawingml/2006/main" w="0">
            <a:solidFill>
              <a:srgbClr val="A44B4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6358CB-8640-4220-B30C-13F7EE7B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910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694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551CE2-463C-4554-8ED1-3519E970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57450"/>
            <a:ext cx="4838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13AB92-DEFD-4017-B871-DF2D6960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86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Evidence ladder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168736-E707-4FA0-9E1E-93F35FA9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936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936B"/>
                </a:solidFill>
                <a:latin typeface="Aptos"/>
                <a:ea typeface="Aptos"/>
                <a:cs typeface="Aptos"/>
              </a:rPr>
              <a:t>11,728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C3B3C7-10DE-4F24-92FE-7FFD5076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66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metadata complete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9DEE71-0DC8-4590-97C6-286CBD5D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C7FB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C7FB8"/>
                </a:solidFill>
                <a:latin typeface="Aptos"/>
                <a:ea typeface="Aptos"/>
                <a:cs typeface="Aptos"/>
              </a:rPr>
              <a:t>279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72B5DF-F74E-445C-8F16-B785F1A9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76650"/>
            <a:ext cx="1257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probe candidates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8B4196-38BD-418B-B5C9-1F6B3CBE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94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942C"/>
                </a:solidFill>
                <a:latin typeface="Aptos"/>
                <a:ea typeface="Aptos"/>
                <a:cs typeface="Aptos"/>
              </a:rPr>
              <a:t>88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6876B0-72EE-47EF-8054-D6DB36AC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7665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activity observed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7E7585-B6CE-4C4C-9DB0-6F6338AF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00550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E4EA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A5361E-F2EE-43F3-8DAF-51C06984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0055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B43"/>
          </a:solidFill>
          <a:ln xmlns:a="http://schemas.openxmlformats.org/drawingml/2006/main" w="0">
            <a:solidFill>
              <a:srgbClr val="A44B4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DA20E2-50AB-4DB4-B712-BC690745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33900"/>
            <a:ext cx="3505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2A"/>
                </a:solidFill>
                <a:latin typeface="Aptos"/>
                <a:ea typeface="Aptos"/>
                <a:cs typeface="Aptos"/>
              </a:rPr>
              <a:t>Caveat: 13,150 routes had no observed activity in the local scrape. That is not failure; it is exactly why signal matters.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2C5DC8-86D9-46CE-B7DB-C2EB7DC4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995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9959A"/>
                </a:solidFill>
                <a:latin typeface="Aptos"/>
                <a:ea typeface="Aptos"/>
                <a:cs typeface="Aptos"/>
              </a:rPr>
              <a:t>Source: summary.verdicts, summary.evidence_stages, and summary.activity_signals in routesdb.json.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81E5F4-9F71-43D3-8295-906FD72A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6"/>
          </a:solidFill>
          <a:ln xmlns:a="http://schemas.openxmlformats.org/drawingml/2006/main" w="0">
            <a:solidFill>
              <a:srgbClr val="E4EAE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2EE049-EFE8-4751-9D10-DFAFE417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RouteSignal hackathon pitch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DAD91E-8312-46B6-A032-ECB294F9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77891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26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963685-734F-43FE-9251-6945C17E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B48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B488"/>
                </a:solidFill>
                <a:latin typeface="Aptos"/>
                <a:ea typeface="Aptos"/>
                <a:cs typeface="Aptos"/>
              </a:rPr>
              <a:t>THE WEDGE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8F20D-8E16-49CE-A9FD-FA22D69B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885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F3FAF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3FAF7"/>
                </a:solidFill>
                <a:latin typeface="Aptos"/>
                <a:ea typeface="Aptos"/>
                <a:cs typeface="Aptos"/>
              </a:rPr>
              <a:t>Composition is where paid routes become interesting.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C1B00-66DA-4958-BEBB-15ED0773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429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B8CAD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8CAD1"/>
                </a:solidFill>
                <a:latin typeface="Aptos"/>
                <a:ea typeface="Aptos"/>
                <a:cs typeface="Aptos"/>
              </a:rPr>
              <a:t>When every API call can be bought separately, agents can assemble strange workflows from cheap ingredients and stop as soon as the receipt trail is decisive.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7AE66-08FF-4511-A4E1-087D35E8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995362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03D"/>
          </a:solidFill>
          <a:ln xmlns:a="http://schemas.openxmlformats.org/drawingml/2006/main" w="9525">
            <a:solidFill>
              <a:srgbClr val="35535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CA215-0836-412F-AA6E-0E200D16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A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FAF7"/>
                </a:solidFill>
                <a:latin typeface="Aptos"/>
                <a:ea typeface="Aptos"/>
                <a:cs typeface="Aptos"/>
              </a:rPr>
              <a:t>Supplier screener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A546A-F8DF-4503-8B04-BB1AF70C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3845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62B48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93B69-2DD1-4E02-A6AF-F7829817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2417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7E5E2"/>
                </a:solidFill>
                <a:latin typeface="Aptos"/>
                <a:ea typeface="Aptos"/>
                <a:cs typeface="Aptos"/>
              </a:rPr>
              <a:t>registry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1926F-61EA-466F-A505-3A101C09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89560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B48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62B488"/>
                </a:solidFill>
                <a:latin typeface="Aptos Mono"/>
                <a:ea typeface="Aptos Mono"/>
                <a:cs typeface="Aptos Mono"/>
              </a:rPr>
              <a:t>|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57D6D-EBB8-44C6-B2B8-AB5B057D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38450"/>
            <a:ext cx="752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62B48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E3B2B-B218-4230-8EE0-F5BEDA38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924175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5E2"/>
                </a:solidFill>
                <a:latin typeface="Aptos"/>
                <a:ea typeface="Aptos"/>
                <a:cs typeface="Aptos"/>
              </a:rPr>
              <a:t>sanctions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C4D8D-83A5-4180-8DF6-63ECB55F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9560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B48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62B488"/>
                </a:solidFill>
                <a:latin typeface="Aptos Mono"/>
                <a:ea typeface="Aptos Mono"/>
                <a:cs typeface="Aptos Mono"/>
              </a:rPr>
              <a:t>|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254D4-C0D8-424C-B3AB-8EE034E4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83845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62B48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72BE5-C925-45DC-9CEF-06BEDD95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5E2"/>
                </a:solidFill>
                <a:latin typeface="Aptos"/>
                <a:ea typeface="Aptos"/>
                <a:cs typeface="Aptos"/>
              </a:rPr>
              <a:t>shipment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8E854E-AE93-4596-8C09-CB3B5181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9560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B48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62B488"/>
                </a:solidFill>
                <a:latin typeface="Aptos Mono"/>
                <a:ea typeface="Aptos Mono"/>
                <a:cs typeface="Aptos Mono"/>
              </a:rPr>
              <a:t>|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84E28-0CAC-454B-925B-629E9499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838450"/>
            <a:ext cx="8858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62B48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A5E3E-78DE-49F9-BF15-972D6AD9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24175"/>
            <a:ext cx="714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5E2"/>
                </a:solidFill>
                <a:latin typeface="Aptos"/>
                <a:ea typeface="Aptos"/>
                <a:cs typeface="Aptos"/>
              </a:rPr>
              <a:t>owner graph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285FB-7F3B-412C-831D-BA10B8B4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9560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B48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62B488"/>
                </a:solidFill>
                <a:latin typeface="Aptos Mono"/>
                <a:ea typeface="Aptos Mono"/>
                <a:cs typeface="Aptos Mono"/>
              </a:rPr>
              <a:t>|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31352-D1A1-4C99-ADC2-7EE9AB00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62B48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13EB04-9C0D-4851-A4B1-2FA9440C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92417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5E2"/>
                </a:solidFill>
                <a:latin typeface="Aptos"/>
                <a:ea typeface="Aptos"/>
                <a:cs typeface="Aptos"/>
              </a:rPr>
              <a:t>receipt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1985B-8522-4308-9E77-CFBFA356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A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FAF7"/>
                </a:solidFill>
                <a:latin typeface="Aptos"/>
                <a:ea typeface="Aptos"/>
                <a:cs typeface="Aptos"/>
              </a:rPr>
              <a:t>Viral claim trace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AE1A09-2A80-44E2-A59B-C9436581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861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2C7FB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5DEF49-9167-4724-AF10-B965880F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718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7E5E2"/>
                </a:solidFill>
                <a:latin typeface="Aptos"/>
                <a:ea typeface="Aptos"/>
                <a:cs typeface="Aptos"/>
              </a:rPr>
              <a:t>claim search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C1A77E-37CF-45F8-8FCA-296C51DC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54330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C7FB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2C7FB8"/>
                </a:solidFill>
                <a:latin typeface="Aptos Mono"/>
                <a:ea typeface="Aptos Mono"/>
                <a:cs typeface="Aptos Mono"/>
              </a:rPr>
              <a:t>|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02441A-0689-471F-84A8-0F689A11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86150"/>
            <a:ext cx="1019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2C7FB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399B24-202C-4259-B19D-34D25C86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5718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5E2"/>
                </a:solidFill>
                <a:latin typeface="Aptos"/>
                <a:ea typeface="Aptos"/>
                <a:cs typeface="Aptos"/>
              </a:rPr>
              <a:t>reverse image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470B3A-80A9-45C7-BC33-34A0F5C3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4330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C7FB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2C7FB8"/>
                </a:solidFill>
                <a:latin typeface="Aptos Mono"/>
                <a:ea typeface="Aptos Mono"/>
                <a:cs typeface="Aptos Mono"/>
              </a:rPr>
              <a:t>|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6C9418-740E-45AA-9581-663769C1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48615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2C7FB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CB1F7B-8586-42E5-A9D5-E8413195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718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5E2"/>
                </a:solidFill>
                <a:latin typeface="Aptos"/>
                <a:ea typeface="Aptos"/>
                <a:cs typeface="Aptos"/>
              </a:rPr>
              <a:t>fact check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7B18F5-8E0E-4062-A681-D69E36D8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4330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C7FB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2C7FB8"/>
                </a:solidFill>
                <a:latin typeface="Aptos Mono"/>
                <a:ea typeface="Aptos Mono"/>
                <a:cs typeface="Aptos Mono"/>
              </a:rPr>
              <a:t>|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8FE55F-B4B0-4B09-B615-042219A9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48615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2C7FB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813B4A-3084-41CE-B2A7-45883F38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718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5E2"/>
                </a:solidFill>
                <a:latin typeface="Aptos"/>
                <a:ea typeface="Aptos"/>
                <a:cs typeface="Aptos"/>
              </a:rPr>
              <a:t>source 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1A89C5-641C-43FC-A676-9A079961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4330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C7FB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2C7FB8"/>
                </a:solidFill>
                <a:latin typeface="Aptos Mono"/>
                <a:ea typeface="Aptos Mono"/>
                <a:cs typeface="Aptos Mono"/>
              </a:rPr>
              <a:t>|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F5A050-A999-457C-A9DD-260EDE1C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8615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2C7FB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5B12F0-D03A-4515-819A-66FE3EB1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7187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5E2"/>
                </a:solidFill>
                <a:latin typeface="Aptos"/>
                <a:ea typeface="Aptos"/>
                <a:cs typeface="Aptos"/>
              </a:rPr>
              <a:t>proof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02329E-F0D4-496D-889A-A6F3E315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A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FAF7"/>
                </a:solidFill>
                <a:latin typeface="Aptos"/>
                <a:ea typeface="Aptos"/>
                <a:cs typeface="Aptos"/>
              </a:rPr>
              <a:t>Neighborhood check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F9B888-387E-46E1-A922-F0031201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3385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D9942C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E6BAD6-DDCB-4EE4-BE73-2ACA04CB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1957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7E5E2"/>
                </a:solidFill>
                <a:latin typeface="Aptos"/>
                <a:ea typeface="Aptos"/>
                <a:cs typeface="Aptos"/>
              </a:rPr>
              <a:t>reviews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6E5D17-562A-46BB-9CEE-4F9AA170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19100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942C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9942C"/>
                </a:solidFill>
                <a:latin typeface="Aptos Mono"/>
                <a:ea typeface="Aptos Mono"/>
                <a:cs typeface="Aptos Mono"/>
              </a:rPr>
              <a:t>|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51A9B3-E1D1-468E-9523-4C7F144F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3385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D9942C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2D1786-F7E5-44E1-B132-B358DF6F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21957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5E2"/>
                </a:solidFill>
                <a:latin typeface="Aptos"/>
                <a:ea typeface="Aptos"/>
                <a:cs typeface="Aptos"/>
              </a:rPr>
              <a:t>crime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8F2E16-C8A0-4FEF-9C7A-6B43F546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19100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942C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9942C"/>
                </a:solidFill>
                <a:latin typeface="Aptos Mono"/>
                <a:ea typeface="Aptos Mono"/>
                <a:cs typeface="Aptos Mono"/>
              </a:rPr>
              <a:t>|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08A153-5C74-470A-BFEF-C1D1EB35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3385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D9942C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D19965-E954-4A3E-A5E2-C33B8A50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1957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5E2"/>
                </a:solidFill>
                <a:latin typeface="Aptos"/>
                <a:ea typeface="Aptos"/>
                <a:cs typeface="Aptos"/>
              </a:rPr>
              <a:t>transit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91F2BC-3482-41DC-A231-D5BCF87C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19100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942C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9942C"/>
                </a:solidFill>
                <a:latin typeface="Aptos Mono"/>
                <a:ea typeface="Aptos Mono"/>
                <a:cs typeface="Aptos Mono"/>
              </a:rPr>
              <a:t>|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EC1C80-5EDE-459C-A093-DEBA8CC7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33850"/>
            <a:ext cx="752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D9942C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7BBCE1-33E5-41F7-9930-65B4541D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219575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5E2"/>
                </a:solidFill>
                <a:latin typeface="Aptos"/>
                <a:ea typeface="Aptos"/>
                <a:cs typeface="Aptos"/>
              </a:rPr>
              <a:t>broadband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E626A1-5513-424F-BDE5-17DA49DC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9100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942C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9942C"/>
                </a:solidFill>
                <a:latin typeface="Aptos Mono"/>
                <a:ea typeface="Aptos Mono"/>
                <a:cs typeface="Aptos Mono"/>
              </a:rPr>
              <a:t>|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FAD3A1-25F5-448A-95C8-584160ED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133850"/>
            <a:ext cx="8858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D9942C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4E7DDB-3B53-496F-BCB9-08A6D795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9575"/>
            <a:ext cx="714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5E2"/>
                </a:solidFill>
                <a:latin typeface="Aptos"/>
                <a:ea typeface="Aptos"/>
                <a:cs typeface="Aptos"/>
              </a:rPr>
              <a:t>attestation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EBD074-0D3C-4043-984E-736BFACC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A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FAF7"/>
                </a:solidFill>
                <a:latin typeface="Aptos"/>
                <a:ea typeface="Aptos"/>
                <a:cs typeface="Aptos"/>
              </a:rPr>
              <a:t>Wallet diligence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639BEA-7470-45FE-B8DA-EF66357D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81550"/>
            <a:ext cx="8858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62B488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737A4B-195B-4130-865F-27B14FDF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867275"/>
            <a:ext cx="714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7E5E2"/>
                </a:solidFill>
                <a:latin typeface="Aptos"/>
                <a:ea typeface="Aptos"/>
                <a:cs typeface="Aptos"/>
              </a:rPr>
              <a:t>wallet risk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3D0A03-770D-4A82-8AD1-77B4ACEC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3870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B48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62B488"/>
                </a:solidFill>
                <a:latin typeface="Aptos Mono"/>
                <a:ea typeface="Aptos Mono"/>
                <a:cs typeface="Aptos Mono"/>
              </a:rPr>
              <a:t>|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E6AC72-0184-4CA8-AF30-5A68AEB1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781550"/>
            <a:ext cx="1019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62B488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9DE1E7A-1A87-4AF7-9B17-EA5B33F5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672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5E2"/>
                </a:solidFill>
                <a:latin typeface="Aptos"/>
                <a:ea typeface="Aptos"/>
                <a:cs typeface="Aptos"/>
              </a:rPr>
              <a:t>token history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756C36-DF20-4781-9317-39FAB13E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83870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B48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62B488"/>
                </a:solidFill>
                <a:latin typeface="Aptos Mono"/>
                <a:ea typeface="Aptos Mono"/>
                <a:cs typeface="Aptos Mono"/>
              </a:rPr>
              <a:t>|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A39BD3B-8933-4392-BE8E-4F4DD64E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815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62B488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EB63067-1D25-450D-8747-F833ECFB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672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5E2"/>
                </a:solidFill>
                <a:latin typeface="Aptos"/>
                <a:ea typeface="Aptos"/>
                <a:cs typeface="Aptos"/>
              </a:rPr>
              <a:t>social graph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AFA002-6706-4975-8D27-69AAC2C5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83870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B48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62B488"/>
                </a:solidFill>
                <a:latin typeface="Aptos Mono"/>
                <a:ea typeface="Aptos Mono"/>
                <a:cs typeface="Aptos Mono"/>
              </a:rPr>
              <a:t>|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55E62A7-1CC4-443F-86C7-92421ADB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8155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62B488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0EF8BF8-AD71-469F-A30D-E1D4B756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86727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5E2"/>
                </a:solidFill>
                <a:latin typeface="Aptos"/>
                <a:ea typeface="Aptos"/>
                <a:cs typeface="Aptos"/>
              </a:rPr>
              <a:t>domain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5E11598-A4C0-4A8F-BE0F-72CE31A3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83870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B48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62B488"/>
                </a:solidFill>
                <a:latin typeface="Aptos Mono"/>
                <a:ea typeface="Aptos Mono"/>
                <a:cs typeface="Aptos Mono"/>
              </a:rPr>
              <a:t>|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5A5533B-724C-4D41-8F61-9F899884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8155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62B488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3EA05D4-0536-42C7-A468-E95CD0CB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86727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5E2"/>
                </a:solidFill>
                <a:latin typeface="Aptos"/>
                <a:ea typeface="Aptos"/>
                <a:cs typeface="Aptos"/>
              </a:rPr>
              <a:t>memo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FB266B1-B5FD-4A1D-86DA-E061BA04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43200"/>
            <a:ext cx="257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35535D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83324D1-0F88-4844-81C2-6B42F867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432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488"/>
          </a:solidFill>
          <a:ln xmlns:a="http://schemas.openxmlformats.org/drawingml/2006/main" w="0">
            <a:solidFill>
              <a:srgbClr val="62B488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E972E1B-AA03-4337-8F08-8FA059E2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B48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B488"/>
                </a:solidFill>
                <a:latin typeface="Aptos"/>
                <a:ea typeface="Aptos"/>
                <a:cs typeface="Aptos"/>
              </a:rPr>
              <a:t>First-dollar rule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A5B0ED5-F6B4-470B-99CC-AE66225B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850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5E2"/>
                </a:solidFill>
                <a:latin typeface="Aptos"/>
                <a:ea typeface="Aptos"/>
                <a:cs typeface="Aptos"/>
              </a:rPr>
              <a:t>Start with the cheapest call that can kill the task.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3DFFA53-0E48-4962-ACD5-F02EC8C7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05250"/>
            <a:ext cx="257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35535D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DEFC833-9D3B-42CA-B3D8-78EBB9CE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0525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D9942C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9B61980-9E12-4CB1-ABDD-A6DCE27C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95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942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942C"/>
                </a:solidFill>
                <a:latin typeface="Aptos"/>
                <a:ea typeface="Aptos"/>
                <a:cs typeface="Aptos"/>
              </a:rPr>
              <a:t>Stop rule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2AC4E01-0DBE-4B74-8482-BBAEFC67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4340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5E2"/>
                </a:solidFill>
                <a:latin typeface="Aptos"/>
                <a:ea typeface="Aptos"/>
                <a:cs typeface="Aptos"/>
              </a:rPr>
              <a:t>Stop on contradiction, sanctions, reused media, or weak evidence.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FB627D5-5D18-4A87-B5E0-8AC9BD7C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995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9959A"/>
                </a:solidFill>
                <a:latin typeface="Aptos"/>
                <a:ea typeface="Aptos"/>
                <a:cs typeface="Aptos"/>
              </a:rPr>
              <a:t>Recipe costs are illustrative; corpus costs cluster around micro and cheap probe calls, with premium calls reserved for later evidence.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22C8480-23B7-410E-9E9B-B9A0CDF8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35D"/>
          </a:solidFill>
          <a:ln xmlns:a="http://schemas.openxmlformats.org/drawingml/2006/main" w="0">
            <a:solidFill>
              <a:srgbClr val="35535D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E03839E-0F05-4AEC-99CF-3BCBCB67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AD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8CAD1"/>
                </a:solidFill>
                <a:latin typeface="Aptos"/>
                <a:ea typeface="Aptos"/>
                <a:cs typeface="Aptos"/>
              </a:rPr>
              <a:t>RouteSignal hackathon pitch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0F9FA45-A85B-4710-BB98-0A11C07C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AD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8CAD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982119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546646-38BA-4C6F-9718-A7F8EDF2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93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936B"/>
                </a:solidFill>
                <a:latin typeface="Aptos"/>
                <a:ea typeface="Aptos"/>
                <a:cs typeface="Aptos"/>
              </a:rPr>
              <a:t>THE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E821C-0F37-4E8A-98D7-A1314B4D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885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Three pages make the thesis inspectable.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F9644-7BD6-41A6-832D-A16B35BA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429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The goal is not to simulate payments. It is to show the field guide, the compression layer, and the composition layer.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7ED15-C768-4129-B741-32C49602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CB31C-D7D5-4E48-983A-8AEB36A4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15936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40F7C-DC5D-4088-ABA5-37896AB6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936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5936B"/>
                </a:solidFill>
                <a:latin typeface="Aptos"/>
                <a:ea typeface="Aptos"/>
                <a:cs typeface="Aptos"/>
              </a:rPr>
              <a:t>RoutesDB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8CEF2-6093-4B74-A26A-7BFA528F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2438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2A"/>
                </a:solidFill>
                <a:latin typeface="Aptos"/>
                <a:ea typeface="Aptos"/>
                <a:cs typeface="Aptos"/>
              </a:rPr>
              <a:t>A processable corpus of routes with provider, cost, network, risk, evidence, activity, cluster, and verdict metadata.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665BC-9F01-4499-9F4C-884EB95D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91D40-E614-407B-AA92-65504E05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36B"/>
          </a:solidFill>
          <a:ln xmlns:a="http://schemas.openxmlformats.org/drawingml/2006/main" w="0">
            <a:solidFill>
              <a:srgbClr val="15936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DE4C9-4201-419B-8587-77F455DE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289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60CDC-0585-406B-A68E-712CF07C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289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2C7FB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03B88-8419-4D3D-A5BF-2044575A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C7FB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C7FB8"/>
                </a:solidFill>
                <a:latin typeface="Aptos"/>
                <a:ea typeface="Aptos"/>
                <a:cs typeface="Aptos"/>
              </a:rPr>
              <a:t>Analyzer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F77F5-6AA1-4203-ADE2-7E28403F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2438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2A"/>
                </a:solidFill>
                <a:latin typeface="Aptos"/>
                <a:ea typeface="Aptos"/>
                <a:cs typeface="Aptos"/>
              </a:rPr>
              <a:t>Visual compression: network mix, cost bands, clusters, route farms, active anchors, and evidence gaps.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99326-ADD8-42FB-AC79-2B603880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1485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986AB-4612-43CF-BEAB-B1AB5806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14850"/>
            <a:ext cx="1600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2C7FB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796D7-8EF3-4F17-AA90-3A5316B4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289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70B550-C93A-4195-ADFF-BE734F84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289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D9942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D74520-9DD8-41DC-9C69-08F7C2C6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956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942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9942C"/>
                </a:solidFill>
                <a:latin typeface="Aptos"/>
                <a:ea typeface="Aptos"/>
                <a:cs typeface="Aptos"/>
              </a:rPr>
              <a:t>Wizard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20FF55-0864-4A2B-BE9A-C5E49577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438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0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2A"/>
                </a:solidFill>
                <a:latin typeface="Aptos"/>
                <a:ea typeface="Aptos"/>
                <a:cs typeface="Aptos"/>
              </a:rPr>
              <a:t>A recipe lab that turns capabilities into long-tail workflows, first-dollar probes, stop rules, and missing route ideas.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529C6D-8189-4A4E-A611-1402749A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3697BC-1C48-4FF7-A563-339EFDC2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2266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D9942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F1E5F6-CB4E-4FD1-85BB-3D6CA12E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81625"/>
            <a:ext cx="533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633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0B2633"/>
                </a:solidFill>
                <a:latin typeface="Aptos Mono"/>
                <a:ea typeface="Aptos Mono"/>
                <a:cs typeface="Aptos Mono"/>
              </a:rPr>
              <a:t>data -&gt; signal -&gt; composition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8C5CAE-2E70-4F92-B1EF-0DC60733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6"/>
          </a:solidFill>
          <a:ln xmlns:a="http://schemas.openxmlformats.org/drawingml/2006/main" w="0">
            <a:solidFill>
              <a:srgbClr val="E4EA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0FCF70-B94F-4E8A-A928-9DCC2F0E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RouteSignal hackathon pitch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A2487B-28E4-4EC2-B760-CFCB010C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3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954337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26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861933-7FEB-432E-BC63-730E97C7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B48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B488"/>
                </a:solidFill>
                <a:latin typeface="Aptos"/>
                <a:ea typeface="Aptos"/>
                <a:cs typeface="Aptos"/>
              </a:rPr>
              <a:t>CLOSING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79104-B77E-4ABC-BACE-C723E2DF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885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F3FAF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3FAF7"/>
                </a:solidFill>
                <a:latin typeface="Aptos"/>
                <a:ea typeface="Aptos"/>
                <a:cs typeface="Aptos"/>
              </a:rPr>
              <a:t>When APIs become per-call ingredients, the product is route intelligence.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DEBEB-DE6F-4887-AE6F-15DD5E05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429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B8CAD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8CAD1"/>
                </a:solidFill>
                <a:latin typeface="Aptos"/>
                <a:ea typeface="Aptos"/>
                <a:cs typeface="Aptos"/>
              </a:rPr>
              <a:t>RouteSignal is the starting field guide: what exists, what has signal, what deserves a probe, and what weird workflows become possible.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58E0C-836C-46B5-AF47-65C50A17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35535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6F62D-C2D1-494B-A1E9-0F729C6C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488"/>
          </a:solidFill>
          <a:ln xmlns:a="http://schemas.openxmlformats.org/drawingml/2006/main" w="0">
            <a:solidFill>
              <a:srgbClr val="62B48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53A14-62E9-49F6-9C28-C79F95B9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146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3FAF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FAF7"/>
                </a:solidFill>
                <a:latin typeface="Aptos"/>
                <a:ea typeface="Aptos"/>
                <a:cs typeface="Aptos"/>
              </a:rPr>
              <a:t>What we mapped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74502-F761-4333-8430-2BB0BE4C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95575"/>
            <a:ext cx="657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E5E2"/>
                </a:solidFill>
                <a:latin typeface="Aptos"/>
                <a:ea typeface="Aptos"/>
                <a:cs typeface="Aptos"/>
              </a:rPr>
              <a:t>13,517 listed route rows, provider shape, cost bands, networks, clusters, risk flags, verdicts.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5E16E-567B-4744-AF0A-11BF2936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35535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288B7-1F81-4D82-AAB6-36B14C78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solidFill>
              <a:srgbClr val="2C7FB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AFBCF8-47A0-43D4-A127-786448F9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194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3FAF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FAF7"/>
                </a:solidFill>
                <a:latin typeface="Aptos"/>
                <a:ea typeface="Aptos"/>
                <a:cs typeface="Aptos"/>
              </a:rPr>
              <a:t>What we explain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C5E1D-ABBA-4DE5-98DA-2A914512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00425"/>
            <a:ext cx="657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E5E2"/>
                </a:solidFill>
                <a:latin typeface="Aptos"/>
                <a:ea typeface="Aptos"/>
                <a:cs typeface="Aptos"/>
              </a:rPr>
              <a:t>Why flat route directories are hard to read and why counts alone can mislead agents.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38BB7-596E-4AA5-8425-CBF80154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35535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9F6C0-6F1E-435C-BF08-AEEF10A7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C"/>
          </a:solidFill>
          <a:ln xmlns:a="http://schemas.openxmlformats.org/drawingml/2006/main" w="0">
            <a:solidFill>
              <a:srgbClr val="D9942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53DB5-268D-43A9-BDEE-0B3ECC6C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243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3FAF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FAF7"/>
                </a:solidFill>
                <a:latin typeface="Aptos"/>
                <a:ea typeface="Aptos"/>
                <a:cs typeface="Aptos"/>
              </a:rPr>
              <a:t>What we demonstrate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5CE14-48D8-4EEE-99DA-505F056E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05275"/>
            <a:ext cx="657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E5E2"/>
                </a:solidFill>
                <a:latin typeface="Aptos"/>
                <a:ea typeface="Aptos"/>
                <a:cs typeface="Aptos"/>
              </a:rPr>
              <a:t>A three-page demo that turns the corpus into route analysis and long-tail recipe generation.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6AEC2-97B3-4902-87DA-72511777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45"/>
          </a:solidFill>
          <a:ln xmlns:a="http://schemas.openxmlformats.org/drawingml/2006/main" w="9525">
            <a:solidFill>
              <a:srgbClr val="35535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9896B8-FAF3-4C7A-8B45-D7D01838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488"/>
          </a:solidFill>
          <a:ln xmlns:a="http://schemas.openxmlformats.org/drawingml/2006/main" w="0">
            <a:solidFill>
              <a:srgbClr val="62B48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CFE5E-679E-47CB-AD70-B4425C34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291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3FAF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FAF7"/>
                </a:solidFill>
                <a:latin typeface="Aptos"/>
                <a:ea typeface="Aptos"/>
                <a:cs typeface="Aptos"/>
              </a:rPr>
              <a:t>What comes 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DF09B-CE56-40F8-891D-4CCB7E91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657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7E5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E5E2"/>
                </a:solidFill>
                <a:latin typeface="Aptos"/>
                <a:ea typeface="Aptos"/>
                <a:cs typeface="Aptos"/>
              </a:rPr>
              <a:t>Live probes, receipt trails, provider benchmarks, and a real procurement policy for agent wallets.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E0D39-34F3-4F92-A305-DE99EF88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35D"/>
          </a:solidFill>
          <a:ln xmlns:a="http://schemas.openxmlformats.org/drawingml/2006/main" w="0">
            <a:solidFill>
              <a:srgbClr val="35535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D4DFE4-5702-490A-B10D-C21BF436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09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A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AF7"/>
                </a:solidFill>
                <a:latin typeface="Aptos"/>
                <a:ea typeface="Aptos"/>
                <a:cs typeface="Aptos"/>
              </a:rPr>
              <a:t>Talk track: We mapped the route surface, found the noise, then built the compression and composition layers agents will need when paid APIs become abundant.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7A5F4E-DE29-4343-A6D7-19CC43E9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35D"/>
          </a:solidFill>
          <a:ln xmlns:a="http://schemas.openxmlformats.org/drawingml/2006/main" w="0">
            <a:solidFill>
              <a:srgbClr val="35535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832697-42B6-4BEB-B25C-609EFA20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AD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8CAD1"/>
                </a:solidFill>
                <a:latin typeface="Aptos"/>
                <a:ea typeface="Aptos"/>
                <a:cs typeface="Aptos"/>
              </a:rPr>
              <a:t>RouteSignal hackathon pitch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E4BF6C-61D7-40BF-8BB4-F3708BBD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AD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8CAD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959828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2026-05-21T04:18:13.6860000Z</dcterms:created>
  <dcterms:modified xsi:type="dcterms:W3CDTF">2026-05-21T04:18:13.6860000Z</dcterms:modified>
</coreProperties>
</file>